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00" autoAdjust="0"/>
    <p:restoredTop sz="94660"/>
  </p:normalViewPr>
  <p:slideViewPr>
    <p:cSldViewPr>
      <p:cViewPr varScale="1">
        <p:scale>
          <a:sx n="106" d="100"/>
          <a:sy n="106" d="100"/>
        </p:scale>
        <p:origin x="342" y="1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8/14/2026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Chào mừng mọi người. Đây là tài liệu tổng quan dự án IZONE Label Dashboard — hệ thống dán nhãn và cảnh báo sớm học viên, dành cho Lead Khối và Giáo viên chủ nhiệm.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5 phần chính: mục tiêu dự án, giá trị cho Lead Khối, giá trị cho Giáo viên chủ nhiệm, impact kỳ vọng, và hiện trạng triển khai.</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Trước khi vào chi tiết, hãy xem lý do dự án ra đời và bốn mục tiêu cốt lõi.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Thay vì chờ cuối khoá, dữ liệu điểm danh/BTVN/test được dùng để gán nhãn Xám/Vàng/Đỏ gần theo thời gian thực, kích hoạt quy trình can thiệp có dấu vết.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Bốn mục tiêu: chuẩn hoá quy tắc, rút ngắn thời gian phát hiện, quy trình can thiệp có dấu vết, và nền móng dữ liệu cho tự động hoá.</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Phần này nói về giá trị hệ thống mang lại cho Lead Khối — người quản lý cả khối lớp.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Ảnh bên phải là màn hình Lead Khối Dashboard thật, chụp từ hệ thống đang chạy. Bên trái là ba giá trị chính mà Lead nhận được.</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Ngoài bức tranh tổng quan, Lead còn có nhật ký liên hệ theo dõi can thiệp và một nơi duy nhất để điều chỉnh toàn bộ ngưỡng nghiệp vụ.</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Chuyển sang góc nhìn của Giáo viên chủ nhiệm — người trực tiếp can thiệp với học viên mỗi ngày.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Ảnh bên phải là màn hình Teacher Dashboard thật của một lớp — các thẻ can thiệp 30 giây và bảng học viên với nhãn màu Xám/Vàng/Đỏ.</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Ngoài can thiệp hàng ngày, GV còn xem được lịch sử chuyển nhãn và có quy trình pass mềm rõ ràng, minh bạch với Lead.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Cuối cùng, tác động kỳ vọng cho toàn IZONE khi hệ thống vận hành đầy đủ.</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Ba tác động vận hành trực tiếp: giảm tỷ lệ không đạt, chuẩn hoá trải nghiệm, tiết kiệm thời gian.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Về dài hạn, hệ thống tích luỹ dữ liệu để cải tiến chính sách, và là nền tảng sẵn sàng mở rộng khi pipeline dữ liệu thật hoàn thiện.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Phần cuối: đã có gì, và bước tiếp theo là gì.</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Đã có backend, dashboard, quy tắc nghiệp vụ đầy đủ với kiểm thử tự động. Còn thiếu pipeline dữ liệu thật và các trường thông minh. Số liệu dưới cùng chụp trực tiếp từ dashboard đang chạy.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9Slide.vn - 2019">
            <a:extLst>
              <a:ext uri="{FF2B5EF4-FFF2-40B4-BE49-F238E27FC236}">
                <a16:creationId xmlns:a16="http://schemas.microsoft.com/office/drawing/2014/main" id="{949AAD48-5101-7579-EC6D-1DC44B6EE986}"/>
              </a:ext>
            </a:extLst>
          </p:cNvPr>
          <p:cNvSpPr txBox="1"/>
          <p:nvPr userDrawn="1"/>
        </p:nvSpPr>
        <p:spPr>
          <a:xfrm>
            <a:off x="0" y="-2734965"/>
            <a:ext cx="12192000" cy="461665"/>
          </a:xfrm>
          <a:prstGeom prst="rect">
            <a:avLst/>
          </a:prstGeom>
          <a:noFill/>
        </p:spPr>
        <p:txBody>
          <a:bodyPr vert="horz" rtlCol="0">
            <a:spAutoFit/>
          </a:bodyPr>
          <a:lstStyle/>
          <a:p>
            <a:pPr algn="ctr"/>
            <a:r>
              <a:rPr lang="en-US" sz="2400">
                <a:solidFill>
                  <a:srgbClr val="CFCFCF"/>
                </a:solidFill>
              </a:rPr>
              <a:t>www.9slide.vn</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430"/>
        </a:solidFill>
        <a:effectLst/>
      </p:bgPr>
    </p:bg>
    <p:spTree>
      <p:nvGrpSpPr>
        <p:cNvPr id="1" name=""/>
        <p:cNvGrpSpPr/>
        <p:nvPr/>
      </p:nvGrpSpPr>
      <p:grpSpPr>
        <a:xfrm>
          <a:off x="0" y="0"/>
          <a:ext cx="0" cy="0"/>
          <a:chOff x="0" y="0"/>
          <a:chExt cx="0" cy="0"/>
        </a:xfrm>
      </p:grpSpPr>
      <p:sp>
        <p:nvSpPr>
          <p:cNvPr id="100000" name="CoverKicker"/>
          <p:cNvSpPr txBox="1"/>
          <p:nvPr/>
        </p:nvSpPr>
        <p:spPr>
          <a:xfrm>
            <a:off x="720000" y="1908000"/>
            <a:ext cx="10753200" cy="360000"/>
          </a:xfrm>
          <a:prstGeom prst="rect">
            <a:avLst/>
          </a:prstGeom>
        </p:spPr>
        <p:txBody>
          <a:bodyPr/>
          <a:lstStyle/>
          <a:p>
            <a:pPr algn="ctr"/>
            <a:r>
              <a:rPr lang="en-US" sz="1600" b="1">
                <a:solidFill>
                  <a:srgbClr val="DB0829"/>
                </a:solidFill>
                <a:latin typeface="Calibri"/>
                <a:ea typeface="Calibri"/>
              </a:rPr>
              <a:t>TÀI LIỆU TỔNG QUAN DỰ ÁN</a:t>
            </a:r>
          </a:p>
        </p:txBody>
      </p:sp>
      <p:sp>
        <p:nvSpPr>
          <p:cNvPr id="100001" name="CoverTitle"/>
          <p:cNvSpPr txBox="1"/>
          <p:nvPr/>
        </p:nvSpPr>
        <p:spPr>
          <a:xfrm>
            <a:off x="720000" y="2376000"/>
            <a:ext cx="10753200" cy="1296000"/>
          </a:xfrm>
          <a:prstGeom prst="rect">
            <a:avLst/>
          </a:prstGeom>
        </p:spPr>
        <p:txBody>
          <a:bodyPr/>
          <a:lstStyle/>
          <a:p>
            <a:pPr algn="ctr"/>
            <a:r>
              <a:rPr lang="en-US" sz="4000" b="1">
                <a:solidFill>
                  <a:srgbClr val="FFFFFF"/>
                </a:solidFill>
                <a:latin typeface="Trebuchet MS"/>
                <a:ea typeface="Trebuchet MS"/>
              </a:rPr>
              <a:t>Dán nhãn &amp; Cảnh báo sớm Học viên</a:t>
            </a:r>
          </a:p>
        </p:txBody>
      </p:sp>
      <p:sp>
        <p:nvSpPr>
          <p:cNvPr id="100002" name="CoverSubtitle"/>
          <p:cNvSpPr txBox="1"/>
          <p:nvPr/>
        </p:nvSpPr>
        <p:spPr>
          <a:xfrm>
            <a:off x="720000" y="3672000"/>
            <a:ext cx="10753200" cy="576000"/>
          </a:xfrm>
          <a:prstGeom prst="rect">
            <a:avLst/>
          </a:prstGeom>
        </p:spPr>
        <p:txBody>
          <a:bodyPr/>
          <a:lstStyle/>
          <a:p>
            <a:pPr algn="ctr"/>
            <a:r>
              <a:rPr lang="en-US" sz="2400" b="1">
                <a:solidFill>
                  <a:srgbClr val="DB0829"/>
                </a:solidFill>
                <a:latin typeface="Trebuchet MS"/>
                <a:ea typeface="Trebuchet MS"/>
              </a:rPr>
              <a:t>IZONE Label Dashboard</a:t>
            </a:r>
          </a:p>
        </p:txBody>
      </p:sp>
      <p:sp>
        <p:nvSpPr>
          <p:cNvPr id="100003" name="CoverMeta"/>
          <p:cNvSpPr txBox="1"/>
          <p:nvPr/>
        </p:nvSpPr>
        <p:spPr>
          <a:xfrm>
            <a:off x="720000" y="4392000"/>
            <a:ext cx="10753200" cy="360000"/>
          </a:xfrm>
          <a:prstGeom prst="rect">
            <a:avLst/>
          </a:prstGeom>
        </p:spPr>
        <p:txBody>
          <a:bodyPr/>
          <a:lstStyle/>
          <a:p>
            <a:pPr algn="ctr"/>
            <a:r>
              <a:rPr lang="en-US" sz="1600">
                <a:solidFill>
                  <a:srgbClr val="B7C0CC"/>
                </a:solidFill>
                <a:latin typeface="Calibri"/>
                <a:ea typeface="Calibri"/>
              </a:rPr>
              <a:t>Dành cho Lead Khối &amp; Giáo viên chủ nhiệm  ·  Cập nhật 11/08/2026</a:t>
            </a:r>
          </a:p>
        </p:txBody>
      </p:sp>
      <p:sp>
        <p:nvSpPr>
          <p:cNvPr id="100004" name="CoverBand"/>
          <p:cNvSpPr/>
          <p:nvPr/>
        </p:nvSpPr>
        <p:spPr>
          <a:xfrm>
            <a:off x="0" y="6732000"/>
            <a:ext cx="12193200" cy="126000"/>
          </a:xfrm>
          <a:prstGeom prst="rect">
            <a:avLst/>
          </a:prstGeom>
          <a:solidFill>
            <a:srgbClr val="DB0829"/>
          </a:solidFill>
          <a:ln>
            <a:noFill/>
          </a:ln>
        </p:spPr>
        <p:txBody>
          <a:bodyPr/>
          <a:lstStyle/>
          <a:p>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05" name="AgendaTitle"/>
          <p:cNvSpPr txBox="1"/>
          <p:nvPr/>
        </p:nvSpPr>
        <p:spPr>
          <a:xfrm>
            <a:off x="540000" y="468000"/>
            <a:ext cx="9000000" cy="720000"/>
          </a:xfrm>
          <a:prstGeom prst="rect">
            <a:avLst/>
          </a:prstGeom>
        </p:spPr>
        <p:txBody>
          <a:bodyPr/>
          <a:lstStyle/>
          <a:p>
            <a:r>
              <a:rPr lang="en-US" sz="3600" b="1">
                <a:solidFill>
                  <a:srgbClr val="1B2430"/>
                </a:solidFill>
                <a:latin typeface="Trebuchet MS"/>
                <a:ea typeface="Trebuchet MS"/>
              </a:rPr>
              <a:t>Nội dung trình bày</a:t>
            </a:r>
          </a:p>
        </p:txBody>
      </p:sp>
      <p:sp>
        <p:nvSpPr>
          <p:cNvPr id="100006" name="AgendaBand"/>
          <p:cNvSpPr/>
          <p:nvPr/>
        </p:nvSpPr>
        <p:spPr>
          <a:xfrm>
            <a:off x="0" y="0"/>
            <a:ext cx="108000" cy="6858000"/>
          </a:xfrm>
          <a:prstGeom prst="rect">
            <a:avLst/>
          </a:prstGeom>
          <a:solidFill>
            <a:srgbClr val="DB0829"/>
          </a:solidFill>
          <a:ln>
            <a:noFill/>
          </a:ln>
        </p:spPr>
        <p:txBody>
          <a:bodyPr/>
          <a:lstStyle/>
          <a:p>
            <a:endParaRPr/>
          </a:p>
        </p:txBody>
      </p:sp>
      <p:sp>
        <p:nvSpPr>
          <p:cNvPr id="100007" name="TextBox 3"/>
          <p:cNvSpPr/>
          <p:nvPr/>
        </p:nvSpPr>
        <p:spPr>
          <a:xfrm>
            <a:off x="684000" y="17028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1</a:t>
            </a:r>
          </a:p>
        </p:txBody>
      </p:sp>
      <p:sp>
        <p:nvSpPr>
          <p:cNvPr id="100008" name="TextBox 4"/>
          <p:cNvSpPr txBox="1"/>
          <p:nvPr/>
        </p:nvSpPr>
        <p:spPr>
          <a:xfrm>
            <a:off x="1512000" y="1774800"/>
            <a:ext cx="7920000" cy="432000"/>
          </a:xfrm>
          <a:prstGeom prst="rect">
            <a:avLst/>
          </a:prstGeom>
        </p:spPr>
        <p:txBody>
          <a:bodyPr/>
          <a:lstStyle/>
          <a:p>
            <a:r>
              <a:rPr lang="en-US" sz="2200" b="1">
                <a:solidFill>
                  <a:srgbClr val="1B2430"/>
                </a:solidFill>
                <a:latin typeface="Trebuchet MS"/>
                <a:ea typeface="Trebuchet MS"/>
              </a:rPr>
              <a:t>Mục tiêu dự án</a:t>
            </a:r>
          </a:p>
        </p:txBody>
      </p:sp>
      <p:sp>
        <p:nvSpPr>
          <p:cNvPr id="100009" name="TextBox 5"/>
          <p:cNvSpPr txBox="1"/>
          <p:nvPr/>
        </p:nvSpPr>
        <p:spPr>
          <a:xfrm>
            <a:off x="1512000" y="2134800"/>
            <a:ext cx="7920000" cy="360000"/>
          </a:xfrm>
          <a:prstGeom prst="rect">
            <a:avLst/>
          </a:prstGeom>
        </p:spPr>
        <p:txBody>
          <a:bodyPr/>
          <a:lstStyle/>
          <a:p>
            <a:r>
              <a:rPr lang="en-US" sz="1800">
                <a:solidFill>
                  <a:srgbClr val="7A8794"/>
                </a:solidFill>
                <a:latin typeface="Calibri"/>
                <a:ea typeface="Calibri"/>
              </a:rPr>
              <a:t>Vì sao cần một hệ thống dán nhãn &amp; cảnh báo sớm thống nhất</a:t>
            </a:r>
          </a:p>
        </p:txBody>
      </p:sp>
      <p:sp>
        <p:nvSpPr>
          <p:cNvPr id="100010" name="TextBox 6"/>
          <p:cNvSpPr/>
          <p:nvPr/>
        </p:nvSpPr>
        <p:spPr>
          <a:xfrm>
            <a:off x="684000" y="26604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2</a:t>
            </a:r>
          </a:p>
        </p:txBody>
      </p:sp>
      <p:sp>
        <p:nvSpPr>
          <p:cNvPr id="100011" name="TextBox 7"/>
          <p:cNvSpPr txBox="1"/>
          <p:nvPr/>
        </p:nvSpPr>
        <p:spPr>
          <a:xfrm>
            <a:off x="1512000" y="2732400"/>
            <a:ext cx="7920000" cy="432000"/>
          </a:xfrm>
          <a:prstGeom prst="rect">
            <a:avLst/>
          </a:prstGeom>
        </p:spPr>
        <p:txBody>
          <a:bodyPr/>
          <a:lstStyle/>
          <a:p>
            <a:r>
              <a:rPr lang="en-US" sz="2200" b="1">
                <a:solidFill>
                  <a:srgbClr val="1B2430"/>
                </a:solidFill>
                <a:latin typeface="Trebuchet MS"/>
                <a:ea typeface="Trebuchet MS"/>
              </a:rPr>
              <a:t>Giá trị cho Lead Khối</a:t>
            </a:r>
          </a:p>
        </p:txBody>
      </p:sp>
      <p:sp>
        <p:nvSpPr>
          <p:cNvPr id="100012" name="TextBox 8"/>
          <p:cNvSpPr txBox="1"/>
          <p:nvPr/>
        </p:nvSpPr>
        <p:spPr>
          <a:xfrm>
            <a:off x="1512000" y="3092400"/>
            <a:ext cx="7920000" cy="648000"/>
          </a:xfrm>
          <a:prstGeom prst="rect">
            <a:avLst/>
          </a:prstGeom>
        </p:spPr>
        <p:txBody>
          <a:bodyPr/>
          <a:lstStyle/>
          <a:p>
            <a:r>
              <a:rPr lang="en-US" sz="1800">
                <a:solidFill>
                  <a:srgbClr val="7A8794"/>
                </a:solidFill>
                <a:latin typeface="Calibri"/>
                <a:ea typeface="Calibri"/>
              </a:rPr>
              <a:t>Nhìn toàn khối trong một màn hình, ưu tiên đúng lớp cần hỗ trợ</a:t>
            </a:r>
          </a:p>
        </p:txBody>
      </p:sp>
      <p:sp>
        <p:nvSpPr>
          <p:cNvPr id="100013" name="TextBox 9"/>
          <p:cNvSpPr/>
          <p:nvPr/>
        </p:nvSpPr>
        <p:spPr>
          <a:xfrm>
            <a:off x="684000" y="36180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3</a:t>
            </a:r>
          </a:p>
        </p:txBody>
      </p:sp>
      <p:sp>
        <p:nvSpPr>
          <p:cNvPr id="100014" name="TextBox 10"/>
          <p:cNvSpPr txBox="1"/>
          <p:nvPr/>
        </p:nvSpPr>
        <p:spPr>
          <a:xfrm>
            <a:off x="1512000" y="3690000"/>
            <a:ext cx="7920000" cy="432000"/>
          </a:xfrm>
          <a:prstGeom prst="rect">
            <a:avLst/>
          </a:prstGeom>
        </p:spPr>
        <p:txBody>
          <a:bodyPr/>
          <a:lstStyle/>
          <a:p>
            <a:r>
              <a:rPr lang="en-US" sz="2200" b="1">
                <a:solidFill>
                  <a:srgbClr val="1B2430"/>
                </a:solidFill>
                <a:latin typeface="Trebuchet MS"/>
                <a:ea typeface="Trebuchet MS"/>
              </a:rPr>
              <a:t>Giá trị cho Giáo viên chủ nhiệm</a:t>
            </a:r>
          </a:p>
        </p:txBody>
      </p:sp>
      <p:sp>
        <p:nvSpPr>
          <p:cNvPr id="100015" name="TextBox 11"/>
          <p:cNvSpPr txBox="1"/>
          <p:nvPr/>
        </p:nvSpPr>
        <p:spPr>
          <a:xfrm>
            <a:off x="1512000" y="4050000"/>
            <a:ext cx="7920000" cy="360000"/>
          </a:xfrm>
          <a:prstGeom prst="rect">
            <a:avLst/>
          </a:prstGeom>
        </p:spPr>
        <p:txBody>
          <a:bodyPr/>
          <a:lstStyle/>
          <a:p>
            <a:r>
              <a:rPr lang="en-US" sz="1800">
                <a:solidFill>
                  <a:srgbClr val="7A8794"/>
                </a:solidFill>
                <a:latin typeface="Calibri"/>
                <a:ea typeface="Calibri"/>
              </a:rPr>
              <a:t>Can thiệp 30 giây mỗi buổi học, đúng học viên cần chú ý</a:t>
            </a:r>
          </a:p>
        </p:txBody>
      </p:sp>
      <p:sp>
        <p:nvSpPr>
          <p:cNvPr id="100016" name="TextBox 12"/>
          <p:cNvSpPr/>
          <p:nvPr/>
        </p:nvSpPr>
        <p:spPr>
          <a:xfrm>
            <a:off x="684000" y="45756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4</a:t>
            </a:r>
          </a:p>
        </p:txBody>
      </p:sp>
      <p:sp>
        <p:nvSpPr>
          <p:cNvPr id="100017" name="TextBox 13"/>
          <p:cNvSpPr txBox="1"/>
          <p:nvPr/>
        </p:nvSpPr>
        <p:spPr>
          <a:xfrm>
            <a:off x="1512000" y="4647600"/>
            <a:ext cx="7920000" cy="432000"/>
          </a:xfrm>
          <a:prstGeom prst="rect">
            <a:avLst/>
          </a:prstGeom>
        </p:spPr>
        <p:txBody>
          <a:bodyPr/>
          <a:lstStyle/>
          <a:p>
            <a:r>
              <a:rPr lang="en-US" sz="2200" b="1">
                <a:solidFill>
                  <a:srgbClr val="1B2430"/>
                </a:solidFill>
                <a:latin typeface="Trebuchet MS"/>
                <a:ea typeface="Trebuchet MS"/>
              </a:rPr>
              <a:t>Impact kỳ vọng cho IZONE</a:t>
            </a:r>
          </a:p>
        </p:txBody>
      </p:sp>
      <p:sp>
        <p:nvSpPr>
          <p:cNvPr id="100018" name="TextBox 14"/>
          <p:cNvSpPr txBox="1"/>
          <p:nvPr/>
        </p:nvSpPr>
        <p:spPr>
          <a:xfrm>
            <a:off x="1512000" y="5007600"/>
            <a:ext cx="7920000" cy="360000"/>
          </a:xfrm>
          <a:prstGeom prst="rect">
            <a:avLst/>
          </a:prstGeom>
        </p:spPr>
        <p:txBody>
          <a:bodyPr/>
          <a:lstStyle/>
          <a:p>
            <a:r>
              <a:rPr lang="en-US" sz="1800">
                <a:solidFill>
                  <a:srgbClr val="7A8794"/>
                </a:solidFill>
                <a:latin typeface="Calibri"/>
                <a:ea typeface="Calibri"/>
              </a:rPr>
              <a:t>Từ vận hành thủ công đến ra quyết định dựa trên số liệu</a:t>
            </a:r>
          </a:p>
        </p:txBody>
      </p:sp>
      <p:sp>
        <p:nvSpPr>
          <p:cNvPr id="100019" name="TextBox 15"/>
          <p:cNvSpPr/>
          <p:nvPr/>
        </p:nvSpPr>
        <p:spPr>
          <a:xfrm>
            <a:off x="684000" y="55332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5</a:t>
            </a:r>
          </a:p>
        </p:txBody>
      </p:sp>
      <p:sp>
        <p:nvSpPr>
          <p:cNvPr id="100020" name="TextBox 16"/>
          <p:cNvSpPr txBox="1"/>
          <p:nvPr/>
        </p:nvSpPr>
        <p:spPr>
          <a:xfrm>
            <a:off x="1512000" y="5605200"/>
            <a:ext cx="7920000" cy="432000"/>
          </a:xfrm>
          <a:prstGeom prst="rect">
            <a:avLst/>
          </a:prstGeom>
        </p:spPr>
        <p:txBody>
          <a:bodyPr/>
          <a:lstStyle/>
          <a:p>
            <a:r>
              <a:rPr lang="en-US" sz="2200" b="1">
                <a:solidFill>
                  <a:srgbClr val="1B2430"/>
                </a:solidFill>
                <a:latin typeface="Trebuchet MS"/>
                <a:ea typeface="Trebuchet MS"/>
              </a:rPr>
              <a:t>Hiện trạng triển khai</a:t>
            </a:r>
          </a:p>
        </p:txBody>
      </p:sp>
      <p:sp>
        <p:nvSpPr>
          <p:cNvPr id="100021" name="TextBox 17"/>
          <p:cNvSpPr txBox="1"/>
          <p:nvPr/>
        </p:nvSpPr>
        <p:spPr>
          <a:xfrm>
            <a:off x="1512000" y="5965200"/>
            <a:ext cx="7920000" cy="360000"/>
          </a:xfrm>
          <a:prstGeom prst="rect">
            <a:avLst/>
          </a:prstGeom>
        </p:spPr>
        <p:txBody>
          <a:bodyPr/>
          <a:lstStyle/>
          <a:p>
            <a:r>
              <a:rPr lang="en-US" sz="1800">
                <a:solidFill>
                  <a:srgbClr val="7A8794"/>
                </a:solidFill>
                <a:latin typeface="Calibri"/>
                <a:ea typeface="Calibri"/>
              </a:rPr>
              <a:t>Đã có gì, đang làm gì tiếp theo</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2430"/>
        </a:solidFill>
        <a:effectLst/>
      </p:bgPr>
    </p:bg>
    <p:spTree>
      <p:nvGrpSpPr>
        <p:cNvPr id="1" name=""/>
        <p:cNvGrpSpPr/>
        <p:nvPr/>
      </p:nvGrpSpPr>
      <p:grpSpPr>
        <a:xfrm>
          <a:off x="0" y="0"/>
          <a:ext cx="0" cy="0"/>
          <a:chOff x="0" y="0"/>
          <a:chExt cx="0" cy="0"/>
        </a:xfrm>
      </p:grpSpPr>
      <p:sp>
        <p:nvSpPr>
          <p:cNvPr id="100022" name="DivNum"/>
          <p:cNvSpPr txBox="1"/>
          <p:nvPr/>
        </p:nvSpPr>
        <p:spPr>
          <a:xfrm>
            <a:off x="0" y="1080000"/>
            <a:ext cx="7200000" cy="5040000"/>
          </a:xfrm>
          <a:prstGeom prst="rect">
            <a:avLst/>
          </a:prstGeom>
        </p:spPr>
        <p:txBody>
          <a:bodyPr anchor="ctr"/>
          <a:lstStyle/>
          <a:p>
            <a:pPr algn="l"/>
            <a:r>
              <a:rPr lang="en-US" sz="26000" b="1">
                <a:solidFill>
                  <a:srgbClr val="27313E"/>
                </a:solidFill>
                <a:latin typeface="Trebuchet MS"/>
                <a:ea typeface="Trebuchet MS"/>
              </a:rPr>
              <a:t>01</a:t>
            </a:r>
          </a:p>
        </p:txBody>
      </p:sp>
      <p:sp>
        <p:nvSpPr>
          <p:cNvPr id="100023" name="DivLabel"/>
          <p:cNvSpPr txBox="1"/>
          <p:nvPr/>
        </p:nvSpPr>
        <p:spPr>
          <a:xfrm>
            <a:off x="1080000" y="2952000"/>
            <a:ext cx="10033200" cy="360000"/>
          </a:xfrm>
          <a:prstGeom prst="rect">
            <a:avLst/>
          </a:prstGeom>
        </p:spPr>
        <p:txBody>
          <a:bodyPr/>
          <a:lstStyle/>
          <a:p>
            <a:r>
              <a:rPr lang="en-US" sz="1600" b="1">
                <a:solidFill>
                  <a:srgbClr val="DB0829"/>
                </a:solidFill>
                <a:latin typeface="Calibri"/>
                <a:ea typeface="Calibri"/>
              </a:rPr>
              <a:t>PHẦN 01</a:t>
            </a:r>
          </a:p>
        </p:txBody>
      </p:sp>
      <p:sp>
        <p:nvSpPr>
          <p:cNvPr id="100024" name="DivTitle"/>
          <p:cNvSpPr txBox="1"/>
          <p:nvPr/>
        </p:nvSpPr>
        <p:spPr>
          <a:xfrm>
            <a:off x="1080000" y="3312000"/>
            <a:ext cx="10033200" cy="1080000"/>
          </a:xfrm>
          <a:prstGeom prst="rect">
            <a:avLst/>
          </a:prstGeom>
        </p:spPr>
        <p:txBody>
          <a:bodyPr/>
          <a:lstStyle/>
          <a:p>
            <a:r>
              <a:rPr lang="en-US" sz="4000" b="1">
                <a:solidFill>
                  <a:srgbClr val="FFFFFF"/>
                </a:solidFill>
                <a:latin typeface="Trebuchet MS"/>
                <a:ea typeface="Trebuchet MS"/>
              </a:rPr>
              <a:t>Vấn đề &amp; Mục tiêu dự án</a:t>
            </a:r>
          </a:p>
        </p:txBody>
      </p:sp>
      <p:sp>
        <p:nvSpPr>
          <p:cNvPr id="100025" name="DivBand"/>
          <p:cNvSpPr/>
          <p:nvPr/>
        </p:nvSpPr>
        <p:spPr>
          <a:xfrm>
            <a:off x="0" y="6732000"/>
            <a:ext cx="12193200" cy="126000"/>
          </a:xfrm>
          <a:prstGeom prst="rect">
            <a:avLst/>
          </a:prstGeom>
          <a:solidFill>
            <a:srgbClr val="DB0829"/>
          </a:solidFill>
          <a:ln>
            <a:noFill/>
          </a:ln>
        </p:spPr>
        <p:txBody>
          <a:bodyPr/>
          <a:lstStyle/>
          <a:p>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26" name="TextBox 1"/>
          <p:cNvSpPr/>
          <p:nvPr/>
        </p:nvSpPr>
        <p:spPr>
          <a:xfrm>
            <a:off x="0" y="0"/>
            <a:ext cx="108000" cy="6858000"/>
          </a:xfrm>
          <a:prstGeom prst="rect">
            <a:avLst/>
          </a:prstGeom>
          <a:solidFill>
            <a:srgbClr val="DB0829"/>
          </a:solidFill>
          <a:ln>
            <a:noFill/>
          </a:ln>
        </p:spPr>
        <p:txBody>
          <a:bodyPr/>
          <a:lstStyle/>
          <a:p>
            <a:endParaRPr/>
          </a:p>
        </p:txBody>
      </p:sp>
      <p:sp>
        <p:nvSpPr>
          <p:cNvPr id="100027" name="FlowTitle"/>
          <p:cNvSpPr txBox="1"/>
          <p:nvPr/>
        </p:nvSpPr>
        <p:spPr>
          <a:xfrm>
            <a:off x="648000" y="468000"/>
            <a:ext cx="10800000" cy="1080000"/>
          </a:xfrm>
          <a:prstGeom prst="rect">
            <a:avLst/>
          </a:prstGeom>
        </p:spPr>
        <p:txBody>
          <a:bodyPr/>
          <a:lstStyle/>
          <a:p>
            <a:r>
              <a:rPr lang="en-US" sz="3200" b="1">
                <a:solidFill>
                  <a:srgbClr val="1B2430"/>
                </a:solidFill>
                <a:latin typeface="Trebuchet MS"/>
                <a:ea typeface="Trebuchet MS"/>
              </a:rPr>
              <a:t>Từ rà soát cuối khoá đến cảnh báo gần thời gian thực</a:t>
            </a:r>
          </a:p>
        </p:txBody>
      </p:sp>
      <p:sp>
        <p:nvSpPr>
          <p:cNvPr id="100028" name="FlowBody"/>
          <p:cNvSpPr txBox="1"/>
          <p:nvPr/>
        </p:nvSpPr>
        <p:spPr>
          <a:xfrm>
            <a:off x="648000" y="1224000"/>
            <a:ext cx="10800000" cy="918000"/>
          </a:xfrm>
          <a:prstGeom prst="rect">
            <a:avLst/>
          </a:prstGeom>
        </p:spPr>
        <p:txBody>
          <a:bodyPr/>
          <a:lstStyle/>
          <a:p>
            <a:r>
              <a:rPr lang="en-US" sz="1800" b="1">
                <a:solidFill>
                  <a:srgbClr val="333333"/>
                </a:solidFill>
                <a:latin typeface="Calibri"/>
                <a:ea typeface="Calibri"/>
              </a:rPr>
              <a:t>IZONE Label Dashboard </a:t>
            </a:r>
            <a:r>
              <a:rPr lang="en-US" sz="1800">
                <a:solidFill>
                  <a:srgbClr val="333333"/>
                </a:solidFill>
                <a:latin typeface="Calibri"/>
                <a:ea typeface="Calibri"/>
              </a:rPr>
              <a:t>tự động gán nhãn rủi ro cho từng học viên dựa trên điểm danh, bài tập về nhà (BTVN) và kết quả test định kỳ — thay vì chờ đến cuối khoá mới rà soát thủ công trên Google Sheets.</a:t>
            </a:r>
          </a:p>
        </p:txBody>
      </p:sp>
      <p:sp>
        <p:nvSpPr>
          <p:cNvPr id="100029" name="Box1"/>
          <p:cNvSpPr/>
          <p:nvPr/>
        </p:nvSpPr>
        <p:spPr>
          <a:xfrm>
            <a:off x="648000" y="2520000"/>
            <a:ext cx="3096000" cy="2340000"/>
          </a:xfrm>
          <a:prstGeom prst="roundRect">
            <a:avLst/>
          </a:prstGeom>
          <a:solidFill>
            <a:srgbClr val="F5F6F8"/>
          </a:solidFill>
          <a:ln>
            <a:noFill/>
          </a:ln>
        </p:spPr>
        <p:txBody>
          <a:bodyPr anchor="t"/>
          <a:lstStyle/>
          <a:p>
            <a:pPr algn="ctr"/>
            <a:r>
              <a:rPr lang="en-US" sz="2000" b="1">
                <a:solidFill>
                  <a:srgbClr val="1B2430"/>
                </a:solidFill>
                <a:latin typeface="Trebuchet MS"/>
                <a:ea typeface="Trebuchet MS"/>
              </a:rPr>
              <a:t>Dữ liệu hàng ngày</a:t>
            </a:r>
          </a:p>
        </p:txBody>
      </p:sp>
      <p:sp>
        <p:nvSpPr>
          <p:cNvPr id="100030" name="TextBox 5"/>
          <p:cNvSpPr txBox="1"/>
          <p:nvPr/>
        </p:nvSpPr>
        <p:spPr>
          <a:xfrm>
            <a:off x="828000" y="3348000"/>
            <a:ext cx="2736000" cy="1080000"/>
          </a:xfrm>
          <a:prstGeom prst="rect">
            <a:avLst/>
          </a:prstGeom>
        </p:spPr>
        <p:txBody>
          <a:bodyPr/>
          <a:lstStyle/>
          <a:p>
            <a:pPr algn="ctr"/>
            <a:r>
              <a:rPr lang="en-US" sz="1600">
                <a:solidFill>
                  <a:srgbClr val="7A8794"/>
                </a:solidFill>
                <a:latin typeface="Calibri"/>
                <a:ea typeface="Calibri"/>
              </a:rPr>
              <a:t>Điểm danh · BTVN </a:t>
            </a:r>
          </a:p>
          <a:p>
            <a:pPr algn="ctr"/>
            <a:r>
              <a:rPr lang="en-US" sz="1600">
                <a:solidFill>
                  <a:srgbClr val="7A8794"/>
                </a:solidFill>
                <a:latin typeface="Calibri"/>
                <a:ea typeface="Calibri"/>
              </a:rPr>
              <a:t>· Test định kỳ</a:t>
            </a:r>
          </a:p>
        </p:txBody>
      </p:sp>
      <p:sp>
        <p:nvSpPr>
          <p:cNvPr id="100031" name="Box2"/>
          <p:cNvSpPr/>
          <p:nvPr/>
        </p:nvSpPr>
        <p:spPr>
          <a:xfrm>
            <a:off x="4546800" y="2520000"/>
            <a:ext cx="3096000" cy="2340000"/>
          </a:xfrm>
          <a:prstGeom prst="roundRect">
            <a:avLst/>
          </a:prstGeom>
          <a:solidFill>
            <a:srgbClr val="1B2430"/>
          </a:solidFill>
          <a:ln>
            <a:noFill/>
          </a:ln>
        </p:spPr>
        <p:txBody>
          <a:bodyPr anchor="t"/>
          <a:lstStyle/>
          <a:p>
            <a:pPr algn="ctr"/>
            <a:r>
              <a:rPr lang="en-US" sz="2000" b="1">
                <a:solidFill>
                  <a:srgbClr val="FFFFFF"/>
                </a:solidFill>
                <a:latin typeface="Trebuchet MS"/>
                <a:ea typeface="Trebuchet MS"/>
              </a:rPr>
              <a:t>Gán nhãn tự động</a:t>
            </a:r>
          </a:p>
        </p:txBody>
      </p:sp>
      <p:sp>
        <p:nvSpPr>
          <p:cNvPr id="100032" name="TextBox 7"/>
          <p:cNvSpPr/>
          <p:nvPr/>
        </p:nvSpPr>
        <p:spPr>
          <a:xfrm>
            <a:off x="4726800" y="3348000"/>
            <a:ext cx="828000" cy="360000"/>
          </a:xfrm>
          <a:prstGeom prst="roundRect">
            <a:avLst/>
          </a:prstGeom>
          <a:solidFill>
            <a:srgbClr val="9CA3AF"/>
          </a:solidFill>
          <a:ln>
            <a:noFill/>
          </a:ln>
        </p:spPr>
        <p:txBody>
          <a:bodyPr anchor="ctr"/>
          <a:lstStyle/>
          <a:p>
            <a:pPr algn="ctr"/>
            <a:r>
              <a:rPr lang="en-US" sz="1400" b="1">
                <a:solidFill>
                  <a:srgbClr val="FFFFFF"/>
                </a:solidFill>
                <a:latin typeface="Calibri"/>
                <a:ea typeface="Calibri"/>
              </a:rPr>
              <a:t>Xám</a:t>
            </a:r>
          </a:p>
        </p:txBody>
      </p:sp>
      <p:sp>
        <p:nvSpPr>
          <p:cNvPr id="100033" name="TextBox 8"/>
          <p:cNvSpPr/>
          <p:nvPr/>
        </p:nvSpPr>
        <p:spPr>
          <a:xfrm>
            <a:off x="5644800" y="3348000"/>
            <a:ext cx="828000" cy="360000"/>
          </a:xfrm>
          <a:prstGeom prst="roundRect">
            <a:avLst/>
          </a:prstGeom>
          <a:solidFill>
            <a:srgbClr val="F59E0B"/>
          </a:solidFill>
          <a:ln>
            <a:noFill/>
          </a:ln>
        </p:spPr>
        <p:txBody>
          <a:bodyPr anchor="ctr"/>
          <a:lstStyle/>
          <a:p>
            <a:pPr algn="ctr"/>
            <a:r>
              <a:rPr lang="en-US" sz="1400" b="1">
                <a:solidFill>
                  <a:srgbClr val="FFFFFF"/>
                </a:solidFill>
                <a:latin typeface="Calibri"/>
                <a:ea typeface="Calibri"/>
              </a:rPr>
              <a:t>Vàng</a:t>
            </a:r>
          </a:p>
        </p:txBody>
      </p:sp>
      <p:sp>
        <p:nvSpPr>
          <p:cNvPr id="100034" name="TextBox 9"/>
          <p:cNvSpPr/>
          <p:nvPr/>
        </p:nvSpPr>
        <p:spPr>
          <a:xfrm>
            <a:off x="6562800" y="3348000"/>
            <a:ext cx="828000" cy="360000"/>
          </a:xfrm>
          <a:prstGeom prst="roundRect">
            <a:avLst/>
          </a:prstGeom>
          <a:solidFill>
            <a:srgbClr val="DB0829"/>
          </a:solidFill>
          <a:ln>
            <a:noFill/>
          </a:ln>
        </p:spPr>
        <p:txBody>
          <a:bodyPr anchor="ctr"/>
          <a:lstStyle/>
          <a:p>
            <a:pPr algn="ctr"/>
            <a:r>
              <a:rPr lang="en-US" sz="1400" b="1">
                <a:solidFill>
                  <a:srgbClr val="FFFFFF"/>
                </a:solidFill>
                <a:latin typeface="Calibri"/>
                <a:ea typeface="Calibri"/>
              </a:rPr>
              <a:t>Đỏ</a:t>
            </a:r>
          </a:p>
        </p:txBody>
      </p:sp>
      <p:sp>
        <p:nvSpPr>
          <p:cNvPr id="100035" name="TextBox 10"/>
          <p:cNvSpPr txBox="1"/>
          <p:nvPr/>
        </p:nvSpPr>
        <p:spPr>
          <a:xfrm>
            <a:off x="4726800" y="3888000"/>
            <a:ext cx="2736000" cy="720000"/>
          </a:xfrm>
          <a:prstGeom prst="rect">
            <a:avLst/>
          </a:prstGeom>
        </p:spPr>
        <p:txBody>
          <a:bodyPr/>
          <a:lstStyle/>
          <a:p>
            <a:pPr algn="ctr"/>
            <a:r>
              <a:rPr lang="en-US" sz="1400">
                <a:solidFill>
                  <a:srgbClr val="CADCFC"/>
                </a:solidFill>
                <a:latin typeface="Calibri"/>
                <a:ea typeface="Calibri"/>
              </a:rPr>
              <a:t>Cập nhật hàng ngày khi có dữ liệu mới</a:t>
            </a:r>
          </a:p>
        </p:txBody>
      </p:sp>
      <p:sp>
        <p:nvSpPr>
          <p:cNvPr id="100036" name="Box3"/>
          <p:cNvSpPr/>
          <p:nvPr/>
        </p:nvSpPr>
        <p:spPr>
          <a:xfrm>
            <a:off x="8445600" y="2520000"/>
            <a:ext cx="3096000" cy="2340000"/>
          </a:xfrm>
          <a:prstGeom prst="roundRect">
            <a:avLst/>
          </a:prstGeom>
          <a:solidFill>
            <a:srgbClr val="F5F6F8"/>
          </a:solidFill>
          <a:ln>
            <a:noFill/>
          </a:ln>
        </p:spPr>
        <p:txBody>
          <a:bodyPr anchor="t"/>
          <a:lstStyle/>
          <a:p>
            <a:pPr algn="ctr"/>
            <a:r>
              <a:rPr lang="en-US" sz="2000" b="1">
                <a:solidFill>
                  <a:srgbClr val="1B2430"/>
                </a:solidFill>
                <a:latin typeface="Trebuchet MS"/>
                <a:ea typeface="Trebuchet MS"/>
              </a:rPr>
              <a:t>Can thiệp sớm</a:t>
            </a:r>
          </a:p>
        </p:txBody>
      </p:sp>
      <p:sp>
        <p:nvSpPr>
          <p:cNvPr id="100037" name="TextBox 12"/>
          <p:cNvSpPr txBox="1"/>
          <p:nvPr/>
        </p:nvSpPr>
        <p:spPr>
          <a:xfrm>
            <a:off x="8625600" y="3348000"/>
            <a:ext cx="2736000" cy="1260000"/>
          </a:xfrm>
          <a:prstGeom prst="rect">
            <a:avLst/>
          </a:prstGeom>
        </p:spPr>
        <p:txBody>
          <a:bodyPr/>
          <a:lstStyle/>
          <a:p>
            <a:pPr algn="ctr"/>
            <a:r>
              <a:rPr lang="en-US" sz="1600">
                <a:solidFill>
                  <a:srgbClr val="7A8794"/>
                </a:solidFill>
                <a:latin typeface="Calibri"/>
                <a:ea typeface="Calibri"/>
              </a:rPr>
              <a:t>Nhắc Zalo có kịch bản · Ghi nhật ký liên hệ · Có dấu vết theo dõi</a:t>
            </a:r>
          </a:p>
        </p:txBody>
      </p:sp>
      <p:cxnSp>
        <p:nvCxnSpPr>
          <p:cNvPr id="100038" name="Connector 1"/>
          <p:cNvCxnSpPr>
            <a:stCxn id="100029" idx="0"/>
            <a:endCxn id="100031" idx="0"/>
          </p:cNvCxnSpPr>
          <p:nvPr/>
        </p:nvCxnSpPr>
        <p:spPr>
          <a:xfrm>
            <a:off x="3744000" y="3690000"/>
            <a:ext cx="802800" cy="0"/>
          </a:xfrm>
          <a:prstGeom prst="straightConnector1">
            <a:avLst/>
          </a:prstGeom>
          <a:ln w="12700">
            <a:solidFill>
              <a:srgbClr val="1B2430"/>
            </a:solidFill>
            <a:tailEnd type="triangle"/>
          </a:ln>
        </p:spPr>
      </p:cxnSp>
      <p:cxnSp>
        <p:nvCxnSpPr>
          <p:cNvPr id="100039" name="Connector 2"/>
          <p:cNvCxnSpPr>
            <a:stCxn id="100031" idx="0"/>
            <a:endCxn id="100036" idx="0"/>
          </p:cNvCxnSpPr>
          <p:nvPr/>
        </p:nvCxnSpPr>
        <p:spPr>
          <a:xfrm>
            <a:off x="7642800" y="3690000"/>
            <a:ext cx="802800" cy="0"/>
          </a:xfrm>
          <a:prstGeom prst="straightConnector1">
            <a:avLst/>
          </a:prstGeom>
          <a:ln w="12700">
            <a:solidFill>
              <a:srgbClr val="1B2430"/>
            </a:solidFill>
            <a:tailEnd type="triangle"/>
          </a:ln>
        </p:spPr>
      </p:cxn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40" name="TextBox 1"/>
          <p:cNvSpPr/>
          <p:nvPr/>
        </p:nvSpPr>
        <p:spPr>
          <a:xfrm>
            <a:off x="0" y="0"/>
            <a:ext cx="108000" cy="6858000"/>
          </a:xfrm>
          <a:prstGeom prst="rect">
            <a:avLst/>
          </a:prstGeom>
          <a:solidFill>
            <a:srgbClr val="DB0829"/>
          </a:solidFill>
          <a:ln>
            <a:noFill/>
          </a:ln>
        </p:spPr>
        <p:txBody>
          <a:bodyPr/>
          <a:lstStyle/>
          <a:p>
            <a:endParaRPr/>
          </a:p>
        </p:txBody>
      </p:sp>
      <p:sp>
        <p:nvSpPr>
          <p:cNvPr id="100041" name="TextBox 2"/>
          <p:cNvSpPr txBox="1"/>
          <p:nvPr/>
        </p:nvSpPr>
        <p:spPr>
          <a:xfrm>
            <a:off x="648000" y="468000"/>
            <a:ext cx="10080000" cy="720000"/>
          </a:xfrm>
          <a:prstGeom prst="rect">
            <a:avLst/>
          </a:prstGeom>
        </p:spPr>
        <p:txBody>
          <a:bodyPr/>
          <a:lstStyle/>
          <a:p>
            <a:r>
              <a:rPr lang="en-US" sz="3200" b="1">
                <a:solidFill>
                  <a:srgbClr val="1B2430"/>
                </a:solidFill>
                <a:latin typeface="Trebuchet MS"/>
                <a:ea typeface="Trebuchet MS"/>
              </a:rPr>
              <a:t>Bốn mục tiêu cốt lõi</a:t>
            </a:r>
          </a:p>
        </p:txBody>
      </p:sp>
      <p:grpSp>
        <p:nvGrpSpPr>
          <p:cNvPr id="2" name="Group 1">
            <a:extLst>
              <a:ext uri="{FF2B5EF4-FFF2-40B4-BE49-F238E27FC236}">
                <a16:creationId xmlns:a16="http://schemas.microsoft.com/office/drawing/2014/main" id="{02EE19AE-C7C9-A192-54D7-B23E638FD8F2}"/>
              </a:ext>
            </a:extLst>
          </p:cNvPr>
          <p:cNvGrpSpPr/>
          <p:nvPr/>
        </p:nvGrpSpPr>
        <p:grpSpPr>
          <a:xfrm>
            <a:off x="612000" y="1368000"/>
            <a:ext cx="10908000" cy="1062000"/>
            <a:chOff x="612000" y="1368000"/>
            <a:chExt cx="10908000" cy="1062000"/>
          </a:xfrm>
        </p:grpSpPr>
        <p:sp>
          <p:nvSpPr>
            <p:cNvPr id="100042" name="TextBox 3"/>
            <p:cNvSpPr/>
            <p:nvPr/>
          </p:nvSpPr>
          <p:spPr>
            <a:xfrm>
              <a:off x="612000" y="1368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1</a:t>
              </a:r>
            </a:p>
          </p:txBody>
        </p:sp>
        <p:sp>
          <p:nvSpPr>
            <p:cNvPr id="100043" name="TextBox 4"/>
            <p:cNvSpPr txBox="1"/>
            <p:nvPr/>
          </p:nvSpPr>
          <p:spPr>
            <a:xfrm>
              <a:off x="1476000" y="1422000"/>
              <a:ext cx="10044000" cy="414000"/>
            </a:xfrm>
            <a:prstGeom prst="rect">
              <a:avLst/>
            </a:prstGeom>
          </p:spPr>
          <p:txBody>
            <a:bodyPr/>
            <a:lstStyle/>
            <a:p>
              <a:r>
                <a:rPr lang="en-US" sz="2000" b="1">
                  <a:solidFill>
                    <a:srgbClr val="1B2430"/>
                  </a:solidFill>
                  <a:latin typeface="Trebuchet MS"/>
                  <a:ea typeface="Trebuchet MS"/>
                </a:rPr>
                <a:t>Chuẩn hoá một bộ quy tắc đánh giá duy nhất</a:t>
              </a:r>
            </a:p>
          </p:txBody>
        </p:sp>
        <p:sp>
          <p:nvSpPr>
            <p:cNvPr id="100044" name="TextBox 5"/>
            <p:cNvSpPr txBox="1"/>
            <p:nvPr/>
          </p:nvSpPr>
          <p:spPr>
            <a:xfrm>
              <a:off x="1476000" y="1782000"/>
              <a:ext cx="10044000" cy="648000"/>
            </a:xfrm>
            <a:prstGeom prst="rect">
              <a:avLst/>
            </a:prstGeom>
          </p:spPr>
          <p:txBody>
            <a:bodyPr/>
            <a:lstStyle/>
            <a:p>
              <a:r>
                <a:rPr lang="en-US" sz="1800">
                  <a:solidFill>
                    <a:srgbClr val="7A8794"/>
                  </a:solidFill>
                  <a:latin typeface="Calibri"/>
                  <a:ea typeface="Calibri"/>
                </a:rPr>
                <a:t>Ngưỡng gán nhãn, điều kiện pass chuẩn, pass mềm áp dụng thống nhất toàn khối</a:t>
              </a:r>
            </a:p>
          </p:txBody>
        </p:sp>
      </p:grpSp>
      <p:grpSp>
        <p:nvGrpSpPr>
          <p:cNvPr id="3" name="Group 2">
            <a:extLst>
              <a:ext uri="{FF2B5EF4-FFF2-40B4-BE49-F238E27FC236}">
                <a16:creationId xmlns:a16="http://schemas.microsoft.com/office/drawing/2014/main" id="{870AF5A5-5742-8355-BBF0-07BA84093B83}"/>
              </a:ext>
            </a:extLst>
          </p:cNvPr>
          <p:cNvGrpSpPr/>
          <p:nvPr/>
        </p:nvGrpSpPr>
        <p:grpSpPr>
          <a:xfrm>
            <a:off x="612000" y="2628000"/>
            <a:ext cx="10908000" cy="1062000"/>
            <a:chOff x="612000" y="2628000"/>
            <a:chExt cx="10908000" cy="1062000"/>
          </a:xfrm>
        </p:grpSpPr>
        <p:sp>
          <p:nvSpPr>
            <p:cNvPr id="100045" name="TextBox 6"/>
            <p:cNvSpPr/>
            <p:nvPr/>
          </p:nvSpPr>
          <p:spPr>
            <a:xfrm>
              <a:off x="612000" y="2628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2</a:t>
              </a:r>
            </a:p>
          </p:txBody>
        </p:sp>
        <p:sp>
          <p:nvSpPr>
            <p:cNvPr id="100046" name="TextBox 7"/>
            <p:cNvSpPr txBox="1"/>
            <p:nvPr/>
          </p:nvSpPr>
          <p:spPr>
            <a:xfrm>
              <a:off x="1476000" y="2682000"/>
              <a:ext cx="10044000" cy="414000"/>
            </a:xfrm>
            <a:prstGeom prst="rect">
              <a:avLst/>
            </a:prstGeom>
          </p:spPr>
          <p:txBody>
            <a:bodyPr/>
            <a:lstStyle/>
            <a:p>
              <a:r>
                <a:rPr lang="en-US" sz="2000" b="1">
                  <a:solidFill>
                    <a:srgbClr val="1B2430"/>
                  </a:solidFill>
                  <a:latin typeface="Trebuchet MS"/>
                  <a:ea typeface="Trebuchet MS"/>
                </a:rPr>
                <a:t>Rút ngắn thời gian phát hiện học viên rủi ro</a:t>
              </a:r>
            </a:p>
          </p:txBody>
        </p:sp>
        <p:sp>
          <p:nvSpPr>
            <p:cNvPr id="100047" name="TextBox 8"/>
            <p:cNvSpPr txBox="1"/>
            <p:nvPr/>
          </p:nvSpPr>
          <p:spPr>
            <a:xfrm>
              <a:off x="1476000" y="3042000"/>
              <a:ext cx="10044000" cy="648000"/>
            </a:xfrm>
            <a:prstGeom prst="rect">
              <a:avLst/>
            </a:prstGeom>
          </p:spPr>
          <p:txBody>
            <a:bodyPr/>
            <a:lstStyle/>
            <a:p>
              <a:r>
                <a:rPr lang="en-US">
                  <a:solidFill>
                    <a:srgbClr val="7A8794"/>
                  </a:solidFill>
                  <a:latin typeface="Calibri"/>
                  <a:ea typeface="Calibri"/>
                </a:rPr>
                <a:t>Cập nhật hàng ngày, vào 1 khung giờ nhất định, </a:t>
              </a:r>
              <a:r>
                <a:rPr lang="en-US" sz="1800">
                  <a:solidFill>
                    <a:srgbClr val="7A8794"/>
                  </a:solidFill>
                  <a:latin typeface="Calibri"/>
                  <a:ea typeface="Calibri"/>
                </a:rPr>
                <a:t>khi có dữ liệu điểm danh, BTVN hoặc test mới.</a:t>
              </a:r>
            </a:p>
          </p:txBody>
        </p:sp>
      </p:grpSp>
      <p:grpSp>
        <p:nvGrpSpPr>
          <p:cNvPr id="4" name="Group 3">
            <a:extLst>
              <a:ext uri="{FF2B5EF4-FFF2-40B4-BE49-F238E27FC236}">
                <a16:creationId xmlns:a16="http://schemas.microsoft.com/office/drawing/2014/main" id="{93636BD9-9CFD-4FBE-1094-7A61AF7DCDE8}"/>
              </a:ext>
            </a:extLst>
          </p:cNvPr>
          <p:cNvGrpSpPr/>
          <p:nvPr/>
        </p:nvGrpSpPr>
        <p:grpSpPr>
          <a:xfrm>
            <a:off x="612000" y="3888000"/>
            <a:ext cx="10908000" cy="1062000"/>
            <a:chOff x="612000" y="3888000"/>
            <a:chExt cx="10908000" cy="1062000"/>
          </a:xfrm>
        </p:grpSpPr>
        <p:sp>
          <p:nvSpPr>
            <p:cNvPr id="100048" name="TextBox 9"/>
            <p:cNvSpPr/>
            <p:nvPr/>
          </p:nvSpPr>
          <p:spPr>
            <a:xfrm>
              <a:off x="612000" y="3888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3</a:t>
              </a:r>
            </a:p>
          </p:txBody>
        </p:sp>
        <p:sp>
          <p:nvSpPr>
            <p:cNvPr id="100049" name="TextBox 10"/>
            <p:cNvSpPr txBox="1"/>
            <p:nvPr/>
          </p:nvSpPr>
          <p:spPr>
            <a:xfrm>
              <a:off x="1476000" y="3942000"/>
              <a:ext cx="10044000" cy="414000"/>
            </a:xfrm>
            <a:prstGeom prst="rect">
              <a:avLst/>
            </a:prstGeom>
          </p:spPr>
          <p:txBody>
            <a:bodyPr/>
            <a:lstStyle/>
            <a:p>
              <a:r>
                <a:rPr lang="en-US" sz="2000" b="1">
                  <a:solidFill>
                    <a:srgbClr val="1B2430"/>
                  </a:solidFill>
                  <a:latin typeface="Trebuchet MS"/>
                  <a:ea typeface="Trebuchet MS"/>
                </a:rPr>
                <a:t>Tạo quy trình can thiệp có dấu vết</a:t>
              </a:r>
            </a:p>
          </p:txBody>
        </p:sp>
        <p:sp>
          <p:nvSpPr>
            <p:cNvPr id="100050" name="TextBox 11"/>
            <p:cNvSpPr txBox="1"/>
            <p:nvPr/>
          </p:nvSpPr>
          <p:spPr>
            <a:xfrm>
              <a:off x="1476000" y="4302000"/>
              <a:ext cx="10044000" cy="648000"/>
            </a:xfrm>
            <a:prstGeom prst="rect">
              <a:avLst/>
            </a:prstGeom>
          </p:spPr>
          <p:txBody>
            <a:bodyPr/>
            <a:lstStyle/>
            <a:p>
              <a:r>
                <a:rPr lang="en-US" sz="1800">
                  <a:solidFill>
                    <a:srgbClr val="7A8794"/>
                  </a:solidFill>
                  <a:latin typeface="Calibri"/>
                  <a:ea typeface="Calibri"/>
                </a:rPr>
                <a:t>Nhắc nhở qua Zalo, ghi nhật ký liên hệ — để Lead Khối theo dõi được giáo viên đã can thiệp với học viên nào, khi nào.</a:t>
              </a:r>
            </a:p>
          </p:txBody>
        </p:sp>
      </p:grpSp>
      <p:grpSp>
        <p:nvGrpSpPr>
          <p:cNvPr id="5" name="Group 4">
            <a:extLst>
              <a:ext uri="{FF2B5EF4-FFF2-40B4-BE49-F238E27FC236}">
                <a16:creationId xmlns:a16="http://schemas.microsoft.com/office/drawing/2014/main" id="{0E2219BD-341A-D636-F1E9-4BC09EC7E858}"/>
              </a:ext>
            </a:extLst>
          </p:cNvPr>
          <p:cNvGrpSpPr/>
          <p:nvPr/>
        </p:nvGrpSpPr>
        <p:grpSpPr>
          <a:xfrm>
            <a:off x="612000" y="5148000"/>
            <a:ext cx="10908000" cy="1062000"/>
            <a:chOff x="612000" y="5148000"/>
            <a:chExt cx="10908000" cy="1062000"/>
          </a:xfrm>
        </p:grpSpPr>
        <p:sp>
          <p:nvSpPr>
            <p:cNvPr id="100051" name="TextBox 12"/>
            <p:cNvSpPr/>
            <p:nvPr/>
          </p:nvSpPr>
          <p:spPr>
            <a:xfrm>
              <a:off x="612000" y="5148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4</a:t>
              </a:r>
            </a:p>
          </p:txBody>
        </p:sp>
        <p:sp>
          <p:nvSpPr>
            <p:cNvPr id="100052" name="TextBox 13"/>
            <p:cNvSpPr txBox="1"/>
            <p:nvPr/>
          </p:nvSpPr>
          <p:spPr>
            <a:xfrm>
              <a:off x="1476000" y="5202000"/>
              <a:ext cx="10044000" cy="414000"/>
            </a:xfrm>
            <a:prstGeom prst="rect">
              <a:avLst/>
            </a:prstGeom>
          </p:spPr>
          <p:txBody>
            <a:bodyPr/>
            <a:lstStyle/>
            <a:p>
              <a:r>
                <a:rPr lang="en-US" sz="2000" b="1">
                  <a:solidFill>
                    <a:srgbClr val="1B2430"/>
                  </a:solidFill>
                  <a:latin typeface="Trebuchet MS"/>
                  <a:ea typeface="Trebuchet MS"/>
                </a:rPr>
                <a:t>Đặt nền móng dữ liệu Postgres + API</a:t>
              </a:r>
            </a:p>
          </p:txBody>
        </p:sp>
        <p:sp>
          <p:nvSpPr>
            <p:cNvPr id="100053" name="TextBox 14"/>
            <p:cNvSpPr txBox="1"/>
            <p:nvPr/>
          </p:nvSpPr>
          <p:spPr>
            <a:xfrm>
              <a:off x="1476000" y="5562000"/>
              <a:ext cx="10044000" cy="648000"/>
            </a:xfrm>
            <a:prstGeom prst="rect">
              <a:avLst/>
            </a:prstGeom>
          </p:spPr>
          <p:txBody>
            <a:bodyPr/>
            <a:lstStyle/>
            <a:p>
              <a:r>
                <a:rPr lang="en-US" sz="1800">
                  <a:solidFill>
                    <a:srgbClr val="7A8794"/>
                  </a:solidFill>
                  <a:latin typeface="Calibri"/>
                  <a:ea typeface="Calibri"/>
                </a:rPr>
                <a:t>Để về sau tự động hoá hoàn toàn việc nạp dữ liệu từ hệ thống portal, thay vì thao tác thủ công trên Google Sheets.</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2430"/>
        </a:solidFill>
        <a:effectLst/>
      </p:bgPr>
    </p:bg>
    <p:spTree>
      <p:nvGrpSpPr>
        <p:cNvPr id="1" name=""/>
        <p:cNvGrpSpPr/>
        <p:nvPr/>
      </p:nvGrpSpPr>
      <p:grpSpPr>
        <a:xfrm>
          <a:off x="0" y="0"/>
          <a:ext cx="0" cy="0"/>
          <a:chOff x="0" y="0"/>
          <a:chExt cx="0" cy="0"/>
        </a:xfrm>
      </p:grpSpPr>
      <p:sp>
        <p:nvSpPr>
          <p:cNvPr id="100054" name="DivNum"/>
          <p:cNvSpPr txBox="1"/>
          <p:nvPr/>
        </p:nvSpPr>
        <p:spPr>
          <a:xfrm>
            <a:off x="0" y="1080000"/>
            <a:ext cx="7200000" cy="5040000"/>
          </a:xfrm>
          <a:prstGeom prst="rect">
            <a:avLst/>
          </a:prstGeom>
        </p:spPr>
        <p:txBody>
          <a:bodyPr anchor="ctr"/>
          <a:lstStyle/>
          <a:p>
            <a:pPr algn="l"/>
            <a:r>
              <a:rPr lang="en-US" sz="26000" b="1">
                <a:solidFill>
                  <a:srgbClr val="27313E"/>
                </a:solidFill>
                <a:latin typeface="Trebuchet MS"/>
                <a:ea typeface="Trebuchet MS"/>
              </a:rPr>
              <a:t>02</a:t>
            </a:r>
          </a:p>
        </p:txBody>
      </p:sp>
      <p:sp>
        <p:nvSpPr>
          <p:cNvPr id="100055" name="TextBox 2"/>
          <p:cNvSpPr txBox="1"/>
          <p:nvPr/>
        </p:nvSpPr>
        <p:spPr>
          <a:xfrm>
            <a:off x="1080000" y="2952000"/>
            <a:ext cx="10033200" cy="360000"/>
          </a:xfrm>
          <a:prstGeom prst="rect">
            <a:avLst/>
          </a:prstGeom>
        </p:spPr>
        <p:txBody>
          <a:bodyPr/>
          <a:lstStyle/>
          <a:p>
            <a:r>
              <a:rPr lang="en-US" sz="1600" b="1">
                <a:solidFill>
                  <a:srgbClr val="DB0829"/>
                </a:solidFill>
                <a:latin typeface="Calibri"/>
                <a:ea typeface="Calibri"/>
              </a:rPr>
              <a:t>PHẦN 02</a:t>
            </a:r>
          </a:p>
        </p:txBody>
      </p:sp>
      <p:sp>
        <p:nvSpPr>
          <p:cNvPr id="100056" name="TextBox 3"/>
          <p:cNvSpPr txBox="1"/>
          <p:nvPr/>
        </p:nvSpPr>
        <p:spPr>
          <a:xfrm>
            <a:off x="1080000" y="3312000"/>
            <a:ext cx="10033200" cy="1080000"/>
          </a:xfrm>
          <a:prstGeom prst="rect">
            <a:avLst/>
          </a:prstGeom>
        </p:spPr>
        <p:txBody>
          <a:bodyPr/>
          <a:lstStyle/>
          <a:p>
            <a:r>
              <a:rPr lang="en-US" sz="4000" b="1">
                <a:solidFill>
                  <a:srgbClr val="FFFFFF"/>
                </a:solidFill>
                <a:latin typeface="Trebuchet MS"/>
                <a:ea typeface="Trebuchet MS"/>
              </a:rPr>
              <a:t>Giá trị cho Lead Khối</a:t>
            </a:r>
          </a:p>
        </p:txBody>
      </p:sp>
      <p:sp>
        <p:nvSpPr>
          <p:cNvPr id="100057" name="TextBox 4"/>
          <p:cNvSpPr/>
          <p:nvPr/>
        </p:nvSpPr>
        <p:spPr>
          <a:xfrm>
            <a:off x="0" y="6732000"/>
            <a:ext cx="12193200" cy="126000"/>
          </a:xfrm>
          <a:prstGeom prst="rect">
            <a:avLst/>
          </a:prstGeom>
          <a:solidFill>
            <a:srgbClr val="DB0829"/>
          </a:solidFill>
          <a:ln>
            <a:noFill/>
          </a:ln>
        </p:spPr>
        <p:txBody>
          <a:bodyPr/>
          <a:lstStyle/>
          <a:p>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58" name="TextBox 1"/>
          <p:cNvSpPr/>
          <p:nvPr/>
        </p:nvSpPr>
        <p:spPr>
          <a:xfrm>
            <a:off x="0" y="0"/>
            <a:ext cx="108000" cy="6858000"/>
          </a:xfrm>
          <a:prstGeom prst="rect">
            <a:avLst/>
          </a:prstGeom>
          <a:solidFill>
            <a:srgbClr val="DB0829"/>
          </a:solidFill>
          <a:ln>
            <a:noFill/>
          </a:ln>
        </p:spPr>
        <p:txBody>
          <a:bodyPr/>
          <a:lstStyle/>
          <a:p>
            <a:endParaRPr/>
          </a:p>
        </p:txBody>
      </p:sp>
      <p:sp>
        <p:nvSpPr>
          <p:cNvPr id="100059" name="TextBox 2"/>
          <p:cNvSpPr txBox="1"/>
          <p:nvPr/>
        </p:nvSpPr>
        <p:spPr>
          <a:xfrm>
            <a:off x="648000" y="468000"/>
            <a:ext cx="10800000" cy="864000"/>
          </a:xfrm>
          <a:prstGeom prst="rect">
            <a:avLst/>
          </a:prstGeom>
        </p:spPr>
        <p:txBody>
          <a:bodyPr/>
          <a:lstStyle/>
          <a:p>
            <a:r>
              <a:rPr lang="en-US" sz="3000" b="1">
                <a:solidFill>
                  <a:srgbClr val="1B2430"/>
                </a:solidFill>
                <a:latin typeface="Trebuchet MS"/>
                <a:ea typeface="Trebuchet MS"/>
              </a:rPr>
              <a:t>Nhìn toàn khối, ưu tiên đúng lớp cần hỗ trợ</a:t>
            </a:r>
          </a:p>
        </p:txBody>
      </p:sp>
      <p:sp>
        <p:nvSpPr>
          <p:cNvPr id="100060" name="TextBox 3"/>
          <p:cNvSpPr/>
          <p:nvPr/>
        </p:nvSpPr>
        <p:spPr>
          <a:xfrm>
            <a:off x="612000" y="15120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1</a:t>
            </a:r>
          </a:p>
        </p:txBody>
      </p:sp>
      <p:sp>
        <p:nvSpPr>
          <p:cNvPr id="100061" name="TextBox 4"/>
          <p:cNvSpPr txBox="1"/>
          <p:nvPr/>
        </p:nvSpPr>
        <p:spPr>
          <a:xfrm>
            <a:off x="1260000" y="1566000"/>
            <a:ext cx="4320000" cy="432000"/>
          </a:xfrm>
          <a:prstGeom prst="rect">
            <a:avLst/>
          </a:prstGeom>
        </p:spPr>
        <p:txBody>
          <a:bodyPr/>
          <a:lstStyle/>
          <a:p>
            <a:r>
              <a:rPr lang="en-US" sz="1900" b="1">
                <a:solidFill>
                  <a:srgbClr val="1B2430"/>
                </a:solidFill>
                <a:latin typeface="Trebuchet MS"/>
                <a:ea typeface="Trebuchet MS"/>
              </a:rPr>
              <a:t>Bức tranh toàn khối</a:t>
            </a:r>
          </a:p>
        </p:txBody>
      </p:sp>
      <p:sp>
        <p:nvSpPr>
          <p:cNvPr id="100062" name="TextBox 5"/>
          <p:cNvSpPr txBox="1"/>
          <p:nvPr/>
        </p:nvSpPr>
        <p:spPr>
          <a:xfrm>
            <a:off x="1260000" y="1980000"/>
            <a:ext cx="4320000" cy="1206000"/>
          </a:xfrm>
          <a:prstGeom prst="rect">
            <a:avLst/>
          </a:prstGeom>
        </p:spPr>
        <p:txBody>
          <a:bodyPr/>
          <a:lstStyle/>
          <a:p>
            <a:r>
              <a:rPr lang="en-US" sz="1800">
                <a:solidFill>
                  <a:srgbClr val="7A8794"/>
                </a:solidFill>
                <a:latin typeface="Calibri"/>
                <a:ea typeface="Calibri"/>
              </a:rPr>
              <a:t>KPI tổng hợp, phân bổ nhãn theo lớp, biến động theo thời gian — không cần tự tổng hợp thủ công từ nhiều sheet lớp riêng lẻ.</a:t>
            </a:r>
          </a:p>
        </p:txBody>
      </p:sp>
      <p:sp>
        <p:nvSpPr>
          <p:cNvPr id="100063" name="TextBox 6"/>
          <p:cNvSpPr/>
          <p:nvPr/>
        </p:nvSpPr>
        <p:spPr>
          <a:xfrm>
            <a:off x="612000" y="27828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2</a:t>
            </a:r>
          </a:p>
        </p:txBody>
      </p:sp>
      <p:sp>
        <p:nvSpPr>
          <p:cNvPr id="100064" name="TextBox 7"/>
          <p:cNvSpPr txBox="1"/>
          <p:nvPr/>
        </p:nvSpPr>
        <p:spPr>
          <a:xfrm>
            <a:off x="1260000" y="2836800"/>
            <a:ext cx="4320000" cy="684000"/>
          </a:xfrm>
          <a:prstGeom prst="rect">
            <a:avLst/>
          </a:prstGeom>
        </p:spPr>
        <p:txBody>
          <a:bodyPr/>
          <a:lstStyle/>
          <a:p>
            <a:r>
              <a:rPr lang="en-US" sz="1900" b="1">
                <a:solidFill>
                  <a:srgbClr val="1B2430"/>
                </a:solidFill>
                <a:latin typeface="Trebuchet MS"/>
                <a:ea typeface="Trebuchet MS"/>
              </a:rPr>
              <a:t>Drill-down khối → lớp → học viên</a:t>
            </a:r>
          </a:p>
        </p:txBody>
      </p:sp>
      <p:sp>
        <p:nvSpPr>
          <p:cNvPr id="100065" name="TextBox 8"/>
          <p:cNvSpPr txBox="1"/>
          <p:nvPr/>
        </p:nvSpPr>
        <p:spPr>
          <a:xfrm>
            <a:off x="1260000" y="3250800"/>
            <a:ext cx="4320000" cy="648000"/>
          </a:xfrm>
          <a:prstGeom prst="rect">
            <a:avLst/>
          </a:prstGeom>
        </p:spPr>
        <p:txBody>
          <a:bodyPr/>
          <a:lstStyle/>
          <a:p>
            <a:r>
              <a:rPr lang="en-US" sz="1800">
                <a:solidFill>
                  <a:srgbClr val="7A8794"/>
                </a:solidFill>
                <a:latin typeface="Calibri"/>
                <a:ea typeface="Calibri"/>
              </a:rPr>
              <a:t>Chỉ trong vài thao tác, thay vì mở lần lượt từng file dữ liệu.</a:t>
            </a:r>
          </a:p>
        </p:txBody>
      </p:sp>
      <p:sp>
        <p:nvSpPr>
          <p:cNvPr id="100066" name="TextBox 9"/>
          <p:cNvSpPr/>
          <p:nvPr/>
        </p:nvSpPr>
        <p:spPr>
          <a:xfrm>
            <a:off x="612000" y="40536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3</a:t>
            </a:r>
          </a:p>
        </p:txBody>
      </p:sp>
      <p:sp>
        <p:nvSpPr>
          <p:cNvPr id="100067" name="TextBox 10"/>
          <p:cNvSpPr txBox="1"/>
          <p:nvPr/>
        </p:nvSpPr>
        <p:spPr>
          <a:xfrm>
            <a:off x="1260000" y="4107600"/>
            <a:ext cx="4320000" cy="432000"/>
          </a:xfrm>
          <a:prstGeom prst="rect">
            <a:avLst/>
          </a:prstGeom>
        </p:spPr>
        <p:txBody>
          <a:bodyPr/>
          <a:lstStyle/>
          <a:p>
            <a:r>
              <a:rPr lang="en-US" sz="1900" b="1">
                <a:solidFill>
                  <a:srgbClr val="1B2430"/>
                </a:solidFill>
                <a:latin typeface="Trebuchet MS"/>
                <a:ea typeface="Trebuchet MS"/>
              </a:rPr>
              <a:t>Cảnh báo lớp tự động</a:t>
            </a:r>
          </a:p>
        </p:txBody>
      </p:sp>
      <p:sp>
        <p:nvSpPr>
          <p:cNvPr id="100068" name="TextBox 11"/>
          <p:cNvSpPr txBox="1"/>
          <p:nvPr/>
        </p:nvSpPr>
        <p:spPr>
          <a:xfrm>
            <a:off x="1260000" y="4521600"/>
            <a:ext cx="4320000" cy="918000"/>
          </a:xfrm>
          <a:prstGeom prst="rect">
            <a:avLst/>
          </a:prstGeom>
        </p:spPr>
        <p:txBody>
          <a:bodyPr/>
          <a:lstStyle/>
          <a:p>
            <a:r>
              <a:rPr lang="en-US" sz="1800">
                <a:solidFill>
                  <a:srgbClr val="7A8794"/>
                </a:solidFill>
                <a:latin typeface="Calibri"/>
                <a:ea typeface="Calibri"/>
              </a:rPr>
              <a:t>Khi tỷ lệ nhãn Xám + Đỏ vượt ngưỡng cấu hình, giúp Lead ưu tiên đúng lớp cần hỗ trợ trước.</a:t>
            </a:r>
          </a:p>
        </p:txBody>
      </p:sp>
      <p:sp>
        <p:nvSpPr>
          <p:cNvPr id="100069" name="ShotCard"/>
          <p:cNvSpPr/>
          <p:nvPr/>
        </p:nvSpPr>
        <p:spPr>
          <a:xfrm>
            <a:off x="5832000" y="1548000"/>
            <a:ext cx="5724000" cy="3636000"/>
          </a:xfrm>
          <a:prstGeom prst="roundRect">
            <a:avLst/>
          </a:prstGeom>
          <a:solidFill>
            <a:srgbClr val="EEF1F4"/>
          </a:solidFill>
          <a:ln>
            <a:noFill/>
          </a:ln>
        </p:spPr>
        <p:txBody>
          <a:bodyPr/>
          <a:lstStyle/>
          <a:p>
            <a:endParaRPr/>
          </a:p>
        </p:txBody>
      </p:sp>
      <p:pic>
        <p:nvPicPr>
          <p:cNvPr id="100070" name="Picture 1" descr="Ảnh chụp màn hình thực tế Lead Khối Dashboard, hiển thị KPI toàn khối và bảng quản lý lớp"/>
          <p:cNvPicPr>
            <a:picLocks noChangeAspect="1"/>
          </p:cNvPicPr>
          <p:nvPr/>
        </p:nvPicPr>
        <p:blipFill>
          <a:blip r:embed="rId3"/>
          <a:stretch>
            <a:fillRect/>
          </a:stretch>
        </p:blipFill>
        <p:spPr>
          <a:xfrm>
            <a:off x="5922000" y="1638000"/>
            <a:ext cx="5544000" cy="3487500"/>
          </a:xfrm>
          <a:prstGeom prst="rect">
            <a:avLst/>
          </a:prstGeom>
        </p:spPr>
      </p:pic>
      <p:sp>
        <p:nvSpPr>
          <p:cNvPr id="100071" name="TextBox 13"/>
          <p:cNvSpPr txBox="1"/>
          <p:nvPr/>
        </p:nvSpPr>
        <p:spPr>
          <a:xfrm>
            <a:off x="5832000" y="5238000"/>
            <a:ext cx="5724000" cy="288000"/>
          </a:xfrm>
          <a:prstGeom prst="rect">
            <a:avLst/>
          </a:prstGeom>
        </p:spPr>
        <p:txBody>
          <a:bodyPr/>
          <a:lstStyle/>
          <a:p>
            <a:pPr algn="ctr"/>
            <a:r>
              <a:rPr lang="en-US" sz="1200">
                <a:solidFill>
                  <a:srgbClr val="7A8794"/>
                </a:solidFill>
                <a:latin typeface="Calibri"/>
                <a:ea typeface="Calibri"/>
              </a:rPr>
              <a:t>Ảnh chụp thực tế: Lead Khối Dashboard (dữ liệu vận hành thử)</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72" name="TextBox 1"/>
          <p:cNvSpPr/>
          <p:nvPr/>
        </p:nvSpPr>
        <p:spPr>
          <a:xfrm>
            <a:off x="0" y="0"/>
            <a:ext cx="108000" cy="6858000"/>
          </a:xfrm>
          <a:prstGeom prst="rect">
            <a:avLst/>
          </a:prstGeom>
          <a:solidFill>
            <a:srgbClr val="DB0829"/>
          </a:solidFill>
          <a:ln>
            <a:noFill/>
          </a:ln>
        </p:spPr>
        <p:txBody>
          <a:bodyPr/>
          <a:lstStyle/>
          <a:p>
            <a:endParaRPr/>
          </a:p>
        </p:txBody>
      </p:sp>
      <p:sp>
        <p:nvSpPr>
          <p:cNvPr id="100073" name="TextBox 2"/>
          <p:cNvSpPr txBox="1"/>
          <p:nvPr/>
        </p:nvSpPr>
        <p:spPr>
          <a:xfrm>
            <a:off x="648000" y="468000"/>
            <a:ext cx="10800000" cy="864000"/>
          </a:xfrm>
          <a:prstGeom prst="rect">
            <a:avLst/>
          </a:prstGeom>
        </p:spPr>
        <p:txBody>
          <a:bodyPr/>
          <a:lstStyle/>
          <a:p>
            <a:r>
              <a:rPr lang="en-US" sz="3200" b="1">
                <a:solidFill>
                  <a:srgbClr val="1B2430"/>
                </a:solidFill>
                <a:latin typeface="Trebuchet MS"/>
                <a:ea typeface="Trebuchet MS"/>
              </a:rPr>
              <a:t>Vận hành minh bạch, chính sách tập trung</a:t>
            </a:r>
          </a:p>
        </p:txBody>
      </p:sp>
      <p:sp>
        <p:nvSpPr>
          <p:cNvPr id="100074" name="CardA"/>
          <p:cNvSpPr/>
          <p:nvPr/>
        </p:nvSpPr>
        <p:spPr>
          <a:xfrm>
            <a:off x="648000" y="1800000"/>
            <a:ext cx="5256000" cy="3420000"/>
          </a:xfrm>
          <a:prstGeom prst="roundRect">
            <a:avLst/>
          </a:prstGeom>
          <a:solidFill>
            <a:srgbClr val="F5F6F8"/>
          </a:solidFill>
          <a:ln>
            <a:noFill/>
          </a:ln>
        </p:spPr>
        <p:txBody>
          <a:bodyPr/>
          <a:lstStyle/>
          <a:p>
            <a:endParaRPr/>
          </a:p>
        </p:txBody>
      </p:sp>
      <p:sp>
        <p:nvSpPr>
          <p:cNvPr id="100075" name="TextBox 4"/>
          <p:cNvSpPr/>
          <p:nvPr/>
        </p:nvSpPr>
        <p:spPr>
          <a:xfrm>
            <a:off x="1062000" y="2214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1</a:t>
            </a:r>
          </a:p>
        </p:txBody>
      </p:sp>
      <p:sp>
        <p:nvSpPr>
          <p:cNvPr id="100076" name="TextBox 5"/>
          <p:cNvSpPr txBox="1"/>
          <p:nvPr/>
        </p:nvSpPr>
        <p:spPr>
          <a:xfrm>
            <a:off x="1080000" y="2952000"/>
            <a:ext cx="4392000" cy="432000"/>
          </a:xfrm>
          <a:prstGeom prst="rect">
            <a:avLst/>
          </a:prstGeom>
        </p:spPr>
        <p:txBody>
          <a:bodyPr/>
          <a:lstStyle/>
          <a:p>
            <a:r>
              <a:rPr lang="en-US" sz="2200" b="1">
                <a:solidFill>
                  <a:srgbClr val="1B2430"/>
                </a:solidFill>
                <a:latin typeface="Trebuchet MS"/>
                <a:ea typeface="Trebuchet MS"/>
              </a:rPr>
              <a:t>Nhật ký liên hệ Zalo</a:t>
            </a:r>
          </a:p>
        </p:txBody>
      </p:sp>
      <p:sp>
        <p:nvSpPr>
          <p:cNvPr id="100077" name="TextBox 6"/>
          <p:cNvSpPr txBox="1"/>
          <p:nvPr/>
        </p:nvSpPr>
        <p:spPr>
          <a:xfrm>
            <a:off x="1080000" y="3384000"/>
            <a:ext cx="4392000" cy="1260000"/>
          </a:xfrm>
          <a:prstGeom prst="rect">
            <a:avLst/>
          </a:prstGeom>
        </p:spPr>
        <p:txBody>
          <a:bodyPr/>
          <a:lstStyle/>
          <a:p>
            <a:r>
              <a:rPr lang="en-US" sz="1800">
                <a:solidFill>
                  <a:srgbClr val="7A8794"/>
                </a:solidFill>
                <a:latin typeface="Calibri"/>
                <a:ea typeface="Calibri"/>
              </a:rPr>
              <a:t>Biết giáo viên nào đã nhắn Zalo nhắc nhở học viên nào và khi nào — cơ sở để Lead giám sát tiến độ can thiệp ở cấp lớp.</a:t>
            </a:r>
          </a:p>
        </p:txBody>
      </p:sp>
      <p:sp>
        <p:nvSpPr>
          <p:cNvPr id="100078" name="CardB"/>
          <p:cNvSpPr/>
          <p:nvPr/>
        </p:nvSpPr>
        <p:spPr>
          <a:xfrm>
            <a:off x="6289200" y="1800000"/>
            <a:ext cx="5256000" cy="3420000"/>
          </a:xfrm>
          <a:prstGeom prst="roundRect">
            <a:avLst/>
          </a:prstGeom>
          <a:solidFill>
            <a:srgbClr val="1B2430"/>
          </a:solidFill>
          <a:ln>
            <a:noFill/>
          </a:ln>
        </p:spPr>
        <p:txBody>
          <a:bodyPr/>
          <a:lstStyle/>
          <a:p>
            <a:endParaRPr/>
          </a:p>
        </p:txBody>
      </p:sp>
      <p:sp>
        <p:nvSpPr>
          <p:cNvPr id="100079" name="TextBox 8"/>
          <p:cNvSpPr/>
          <p:nvPr/>
        </p:nvSpPr>
        <p:spPr>
          <a:xfrm>
            <a:off x="6703200" y="2214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2</a:t>
            </a:r>
          </a:p>
        </p:txBody>
      </p:sp>
      <p:sp>
        <p:nvSpPr>
          <p:cNvPr id="100080" name="TextBox 9"/>
          <p:cNvSpPr txBox="1"/>
          <p:nvPr/>
        </p:nvSpPr>
        <p:spPr>
          <a:xfrm>
            <a:off x="6721200" y="2952000"/>
            <a:ext cx="4392000" cy="432000"/>
          </a:xfrm>
          <a:prstGeom prst="rect">
            <a:avLst/>
          </a:prstGeom>
        </p:spPr>
        <p:txBody>
          <a:bodyPr/>
          <a:lstStyle/>
          <a:p>
            <a:r>
              <a:rPr lang="en-US" sz="2200" b="1">
                <a:solidFill>
                  <a:srgbClr val="FFFFFF"/>
                </a:solidFill>
                <a:latin typeface="Trebuchet MS"/>
                <a:ea typeface="Trebuchet MS"/>
              </a:rPr>
              <a:t>Cấu hình tập trung</a:t>
            </a:r>
          </a:p>
        </p:txBody>
      </p:sp>
      <p:sp>
        <p:nvSpPr>
          <p:cNvPr id="100081" name="TextBox 10"/>
          <p:cNvSpPr txBox="1"/>
          <p:nvPr/>
        </p:nvSpPr>
        <p:spPr>
          <a:xfrm>
            <a:off x="6721200" y="3456000"/>
            <a:ext cx="4392000" cy="1344600"/>
          </a:xfrm>
          <a:prstGeom prst="rect">
            <a:avLst/>
          </a:prstGeom>
        </p:spPr>
        <p:txBody>
          <a:bodyPr/>
          <a:lstStyle/>
          <a:p>
            <a:r>
              <a:rPr lang="en-US" sz="1800">
                <a:solidFill>
                  <a:srgbClr val="CADCFC"/>
                </a:solidFill>
                <a:latin typeface="Calibri"/>
                <a:ea typeface="Calibri"/>
              </a:rPr>
              <a:t>Nhãn, pass chuẩn, pass mềm, cảnh báo lớp — tất cả cấu hình tại một nơi, giúp Lead điều chỉnh chính sách mà không cần đổi quy trình thủ công ở từng lớp.</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430"/>
        </a:solidFill>
        <a:effectLst/>
      </p:bgPr>
    </p:bg>
    <p:spTree>
      <p:nvGrpSpPr>
        <p:cNvPr id="1" name=""/>
        <p:cNvGrpSpPr/>
        <p:nvPr/>
      </p:nvGrpSpPr>
      <p:grpSpPr>
        <a:xfrm>
          <a:off x="0" y="0"/>
          <a:ext cx="0" cy="0"/>
          <a:chOff x="0" y="0"/>
          <a:chExt cx="0" cy="0"/>
        </a:xfrm>
      </p:grpSpPr>
      <p:sp>
        <p:nvSpPr>
          <p:cNvPr id="100082" name="DivNum"/>
          <p:cNvSpPr txBox="1"/>
          <p:nvPr/>
        </p:nvSpPr>
        <p:spPr>
          <a:xfrm>
            <a:off x="0" y="1080000"/>
            <a:ext cx="7200000" cy="5040000"/>
          </a:xfrm>
          <a:prstGeom prst="rect">
            <a:avLst/>
          </a:prstGeom>
        </p:spPr>
        <p:txBody>
          <a:bodyPr anchor="ctr"/>
          <a:lstStyle/>
          <a:p>
            <a:pPr algn="l"/>
            <a:r>
              <a:rPr lang="en-US" sz="26000" b="1">
                <a:solidFill>
                  <a:srgbClr val="27313E"/>
                </a:solidFill>
                <a:latin typeface="Trebuchet MS"/>
                <a:ea typeface="Trebuchet MS"/>
              </a:rPr>
              <a:t>03</a:t>
            </a:r>
          </a:p>
        </p:txBody>
      </p:sp>
      <p:sp>
        <p:nvSpPr>
          <p:cNvPr id="100083" name="TextBox 2"/>
          <p:cNvSpPr txBox="1"/>
          <p:nvPr/>
        </p:nvSpPr>
        <p:spPr>
          <a:xfrm>
            <a:off x="1080000" y="2952000"/>
            <a:ext cx="10033200" cy="360000"/>
          </a:xfrm>
          <a:prstGeom prst="rect">
            <a:avLst/>
          </a:prstGeom>
        </p:spPr>
        <p:txBody>
          <a:bodyPr/>
          <a:lstStyle/>
          <a:p>
            <a:r>
              <a:rPr lang="en-US" sz="1600" b="1">
                <a:solidFill>
                  <a:srgbClr val="DB0829"/>
                </a:solidFill>
                <a:latin typeface="Calibri"/>
                <a:ea typeface="Calibri"/>
              </a:rPr>
              <a:t>PHẦN 03</a:t>
            </a:r>
          </a:p>
        </p:txBody>
      </p:sp>
      <p:sp>
        <p:nvSpPr>
          <p:cNvPr id="100084" name="TextBox 3"/>
          <p:cNvSpPr txBox="1"/>
          <p:nvPr/>
        </p:nvSpPr>
        <p:spPr>
          <a:xfrm>
            <a:off x="1080000" y="3312000"/>
            <a:ext cx="10033200" cy="1080000"/>
          </a:xfrm>
          <a:prstGeom prst="rect">
            <a:avLst/>
          </a:prstGeom>
        </p:spPr>
        <p:txBody>
          <a:bodyPr/>
          <a:lstStyle/>
          <a:p>
            <a:r>
              <a:rPr lang="en-US" sz="4000" b="1">
                <a:solidFill>
                  <a:srgbClr val="FFFFFF"/>
                </a:solidFill>
                <a:latin typeface="Trebuchet MS"/>
                <a:ea typeface="Trebuchet MS"/>
              </a:rPr>
              <a:t>Giá trị cho Giáo viên chủ nhiệm</a:t>
            </a:r>
          </a:p>
        </p:txBody>
      </p:sp>
      <p:sp>
        <p:nvSpPr>
          <p:cNvPr id="100085" name="TextBox 4"/>
          <p:cNvSpPr/>
          <p:nvPr/>
        </p:nvSpPr>
        <p:spPr>
          <a:xfrm>
            <a:off x="0" y="6732000"/>
            <a:ext cx="12193200" cy="126000"/>
          </a:xfrm>
          <a:prstGeom prst="rect">
            <a:avLst/>
          </a:prstGeom>
          <a:solidFill>
            <a:srgbClr val="DB0829"/>
          </a:solidFill>
          <a:ln>
            <a:noFill/>
          </a:ln>
        </p:spPr>
        <p:txBody>
          <a:bodyPr/>
          <a:lstStyle/>
          <a:p>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86" name="TextBox 1"/>
          <p:cNvSpPr/>
          <p:nvPr/>
        </p:nvSpPr>
        <p:spPr>
          <a:xfrm>
            <a:off x="0" y="0"/>
            <a:ext cx="108000" cy="6858000"/>
          </a:xfrm>
          <a:prstGeom prst="rect">
            <a:avLst/>
          </a:prstGeom>
          <a:solidFill>
            <a:srgbClr val="DB0829"/>
          </a:solidFill>
          <a:ln>
            <a:noFill/>
          </a:ln>
        </p:spPr>
        <p:txBody>
          <a:bodyPr/>
          <a:lstStyle/>
          <a:p>
            <a:endParaRPr/>
          </a:p>
        </p:txBody>
      </p:sp>
      <p:sp>
        <p:nvSpPr>
          <p:cNvPr id="100087" name="TextBox 2"/>
          <p:cNvSpPr txBox="1"/>
          <p:nvPr/>
        </p:nvSpPr>
        <p:spPr>
          <a:xfrm>
            <a:off x="648000" y="468000"/>
            <a:ext cx="10800000" cy="864000"/>
          </a:xfrm>
          <a:prstGeom prst="rect">
            <a:avLst/>
          </a:prstGeom>
        </p:spPr>
        <p:txBody>
          <a:bodyPr/>
          <a:lstStyle/>
          <a:p>
            <a:r>
              <a:rPr lang="en-US" sz="3000" b="1">
                <a:solidFill>
                  <a:srgbClr val="1B2430"/>
                </a:solidFill>
                <a:latin typeface="Trebuchet MS"/>
                <a:ea typeface="Trebuchet MS"/>
              </a:rPr>
              <a:t>30 giây mỗi buổi học, đúng học viên cần chú ý</a:t>
            </a:r>
          </a:p>
        </p:txBody>
      </p:sp>
      <p:sp>
        <p:nvSpPr>
          <p:cNvPr id="100088" name="TextBox 3"/>
          <p:cNvSpPr/>
          <p:nvPr/>
        </p:nvSpPr>
        <p:spPr>
          <a:xfrm>
            <a:off x="612000" y="15120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1</a:t>
            </a:r>
          </a:p>
        </p:txBody>
      </p:sp>
      <p:sp>
        <p:nvSpPr>
          <p:cNvPr id="100089" name="TextBox 4"/>
          <p:cNvSpPr txBox="1"/>
          <p:nvPr/>
        </p:nvSpPr>
        <p:spPr>
          <a:xfrm>
            <a:off x="1260000" y="1566000"/>
            <a:ext cx="4320000" cy="432000"/>
          </a:xfrm>
          <a:prstGeom prst="rect">
            <a:avLst/>
          </a:prstGeom>
        </p:spPr>
        <p:txBody>
          <a:bodyPr/>
          <a:lstStyle/>
          <a:p>
            <a:r>
              <a:rPr lang="en-US" sz="1900" b="1">
                <a:solidFill>
                  <a:srgbClr val="1B2430"/>
                </a:solidFill>
                <a:latin typeface="Trebuchet MS"/>
                <a:ea typeface="Trebuchet MS"/>
              </a:rPr>
              <a:t>Danh sách "can thiệp 30 giây"</a:t>
            </a:r>
          </a:p>
        </p:txBody>
      </p:sp>
      <p:sp>
        <p:nvSpPr>
          <p:cNvPr id="100090" name="TextBox 5"/>
          <p:cNvSpPr txBox="1"/>
          <p:nvPr/>
        </p:nvSpPr>
        <p:spPr>
          <a:xfrm>
            <a:off x="1260000" y="1980000"/>
            <a:ext cx="4320000" cy="1206000"/>
          </a:xfrm>
          <a:prstGeom prst="rect">
            <a:avLst/>
          </a:prstGeom>
        </p:spPr>
        <p:txBody>
          <a:bodyPr/>
          <a:lstStyle/>
          <a:p>
            <a:r>
              <a:rPr lang="en-US" sz="1800">
                <a:solidFill>
                  <a:srgbClr val="7A8794"/>
                </a:solidFill>
                <a:latin typeface="Calibri"/>
                <a:ea typeface="Calibri"/>
              </a:rPr>
              <a:t>Mỗi buổi lên lớp, GV thấy ngay ai cần nhắc điểm danh/BTVN, ai nhãn Đỏ cần theo sát, ai nhãn Xám cần tư vấn học lại.</a:t>
            </a:r>
          </a:p>
        </p:txBody>
      </p:sp>
      <p:sp>
        <p:nvSpPr>
          <p:cNvPr id="100091" name="TextBox 6"/>
          <p:cNvSpPr/>
          <p:nvPr/>
        </p:nvSpPr>
        <p:spPr>
          <a:xfrm>
            <a:off x="612000" y="27828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2</a:t>
            </a:r>
          </a:p>
        </p:txBody>
      </p:sp>
      <p:sp>
        <p:nvSpPr>
          <p:cNvPr id="100092" name="TextBox 7"/>
          <p:cNvSpPr txBox="1"/>
          <p:nvPr/>
        </p:nvSpPr>
        <p:spPr>
          <a:xfrm>
            <a:off x="1260000" y="2836800"/>
            <a:ext cx="4320000" cy="432000"/>
          </a:xfrm>
          <a:prstGeom prst="rect">
            <a:avLst/>
          </a:prstGeom>
        </p:spPr>
        <p:txBody>
          <a:bodyPr/>
          <a:lstStyle/>
          <a:p>
            <a:r>
              <a:rPr lang="en-US" sz="1900" b="1">
                <a:solidFill>
                  <a:srgbClr val="1B2430"/>
                </a:solidFill>
                <a:latin typeface="Trebuchet MS"/>
                <a:ea typeface="Trebuchet MS"/>
              </a:rPr>
              <a:t>Kịch bản nhắn Zalo dựng sẵn</a:t>
            </a:r>
          </a:p>
        </p:txBody>
      </p:sp>
      <p:sp>
        <p:nvSpPr>
          <p:cNvPr id="100093" name="TextBox 8"/>
          <p:cNvSpPr txBox="1"/>
          <p:nvPr/>
        </p:nvSpPr>
        <p:spPr>
          <a:xfrm>
            <a:off x="1260000" y="3250800"/>
            <a:ext cx="4320000" cy="1206000"/>
          </a:xfrm>
          <a:prstGeom prst="rect">
            <a:avLst/>
          </a:prstGeom>
        </p:spPr>
        <p:txBody>
          <a:bodyPr/>
          <a:lstStyle/>
          <a:p>
            <a:r>
              <a:rPr lang="en-US" sz="1800">
                <a:solidFill>
                  <a:srgbClr val="7A8794"/>
                </a:solidFill>
                <a:latin typeface="Calibri"/>
                <a:ea typeface="Calibri"/>
              </a:rPr>
              <a:t>Kèm số liệu điểm danh và BTVN cụ thể của từng HV — liên hệ nhanh, đúng ngữ cảnh, đúng giọng điệu chuẩn trung tâm.</a:t>
            </a:r>
          </a:p>
        </p:txBody>
      </p:sp>
      <p:sp>
        <p:nvSpPr>
          <p:cNvPr id="100094" name="TextBox 9"/>
          <p:cNvSpPr/>
          <p:nvPr/>
        </p:nvSpPr>
        <p:spPr>
          <a:xfrm>
            <a:off x="612000" y="4053600"/>
            <a:ext cx="576000" cy="576000"/>
          </a:xfrm>
          <a:prstGeom prst="ellipse">
            <a:avLst/>
          </a:prstGeom>
          <a:solidFill>
            <a:srgbClr val="DB0829"/>
          </a:solidFill>
          <a:ln>
            <a:noFill/>
          </a:ln>
        </p:spPr>
        <p:txBody>
          <a:bodyPr anchor="ctr"/>
          <a:lstStyle/>
          <a:p>
            <a:pPr algn="ctr"/>
            <a:r>
              <a:rPr lang="en-US" sz="2000" b="1">
                <a:solidFill>
                  <a:srgbClr val="FFFFFF"/>
                </a:solidFill>
                <a:latin typeface="Trebuchet MS"/>
                <a:ea typeface="Trebuchet MS"/>
              </a:rPr>
              <a:t>3</a:t>
            </a:r>
          </a:p>
        </p:txBody>
      </p:sp>
      <p:sp>
        <p:nvSpPr>
          <p:cNvPr id="100095" name="TextBox 10"/>
          <p:cNvSpPr txBox="1"/>
          <p:nvPr/>
        </p:nvSpPr>
        <p:spPr>
          <a:xfrm>
            <a:off x="1260000" y="4107600"/>
            <a:ext cx="4320000" cy="684000"/>
          </a:xfrm>
          <a:prstGeom prst="rect">
            <a:avLst/>
          </a:prstGeom>
        </p:spPr>
        <p:txBody>
          <a:bodyPr/>
          <a:lstStyle/>
          <a:p>
            <a:r>
              <a:rPr lang="en-US" sz="1900" b="1">
                <a:solidFill>
                  <a:srgbClr val="1B2430"/>
                </a:solidFill>
                <a:latin typeface="Trebuchet MS"/>
                <a:ea typeface="Trebuchet MS"/>
              </a:rPr>
              <a:t>Cơ chế "đóng hộ" chống nhắc trùng</a:t>
            </a:r>
          </a:p>
        </p:txBody>
      </p:sp>
      <p:sp>
        <p:nvSpPr>
          <p:cNvPr id="100096" name="TextBox 11"/>
          <p:cNvSpPr txBox="1"/>
          <p:nvPr/>
        </p:nvSpPr>
        <p:spPr>
          <a:xfrm>
            <a:off x="1260000" y="4521600"/>
            <a:ext cx="4320000" cy="1206000"/>
          </a:xfrm>
          <a:prstGeom prst="rect">
            <a:avLst/>
          </a:prstGeom>
        </p:spPr>
        <p:txBody>
          <a:bodyPr/>
          <a:lstStyle/>
          <a:p>
            <a:r>
              <a:rPr lang="en-US" sz="1800">
                <a:solidFill>
                  <a:srgbClr val="7A8794"/>
                </a:solidFill>
                <a:latin typeface="Calibri"/>
                <a:ea typeface="Calibri"/>
              </a:rPr>
              <a:t>Giữa các luồng nhắc nhở, giúp GV không bị nhắc trùng một HV qua nhiều kênh, giảm thời gian xử lý thủ công.</a:t>
            </a:r>
          </a:p>
        </p:txBody>
      </p:sp>
      <p:sp>
        <p:nvSpPr>
          <p:cNvPr id="100097" name="ShotCard2"/>
          <p:cNvSpPr/>
          <p:nvPr/>
        </p:nvSpPr>
        <p:spPr>
          <a:xfrm>
            <a:off x="5832000" y="1548000"/>
            <a:ext cx="5724000" cy="3636000"/>
          </a:xfrm>
          <a:prstGeom prst="roundRect">
            <a:avLst/>
          </a:prstGeom>
          <a:solidFill>
            <a:srgbClr val="EEF1F4"/>
          </a:solidFill>
          <a:ln>
            <a:noFill/>
          </a:ln>
        </p:spPr>
        <p:txBody>
          <a:bodyPr/>
          <a:lstStyle/>
          <a:p>
            <a:endParaRPr/>
          </a:p>
        </p:txBody>
      </p:sp>
      <p:pic>
        <p:nvPicPr>
          <p:cNvPr id="100098" name="Picture 1" descr="Ảnh chụp màn hình thực tế Teacher Dashboard, hiển thị các mức can thiệp 30 giây và bảng học viên với nhãn màu"/>
          <p:cNvPicPr>
            <a:picLocks noChangeAspect="1"/>
          </p:cNvPicPr>
          <p:nvPr/>
        </p:nvPicPr>
        <p:blipFill>
          <a:blip r:embed="rId3"/>
          <a:stretch>
            <a:fillRect/>
          </a:stretch>
        </p:blipFill>
        <p:spPr>
          <a:xfrm>
            <a:off x="5922000" y="1638000"/>
            <a:ext cx="5544000" cy="3487500"/>
          </a:xfrm>
          <a:prstGeom prst="rect">
            <a:avLst/>
          </a:prstGeom>
        </p:spPr>
      </p:pic>
      <p:sp>
        <p:nvSpPr>
          <p:cNvPr id="100099" name="TextBox 13"/>
          <p:cNvSpPr txBox="1"/>
          <p:nvPr/>
        </p:nvSpPr>
        <p:spPr>
          <a:xfrm>
            <a:off x="5832000" y="5238000"/>
            <a:ext cx="5724000" cy="468000"/>
          </a:xfrm>
          <a:prstGeom prst="rect">
            <a:avLst/>
          </a:prstGeom>
        </p:spPr>
        <p:txBody>
          <a:bodyPr/>
          <a:lstStyle/>
          <a:p>
            <a:pPr algn="ctr"/>
            <a:r>
              <a:rPr lang="en-US" sz="1200">
                <a:solidFill>
                  <a:srgbClr val="7A8794"/>
                </a:solidFill>
                <a:latin typeface="Calibri"/>
                <a:ea typeface="Calibri"/>
              </a:rPr>
              <a:t>Ảnh chụp thực tế: Teacher Dashboard, lớp IC2174 (dữ liệu vận hành thử)</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00" name="TextBox 1"/>
          <p:cNvSpPr/>
          <p:nvPr/>
        </p:nvSpPr>
        <p:spPr>
          <a:xfrm>
            <a:off x="0" y="0"/>
            <a:ext cx="108000" cy="6858000"/>
          </a:xfrm>
          <a:prstGeom prst="rect">
            <a:avLst/>
          </a:prstGeom>
          <a:solidFill>
            <a:srgbClr val="DB0829"/>
          </a:solidFill>
          <a:ln>
            <a:noFill/>
          </a:ln>
        </p:spPr>
        <p:txBody>
          <a:bodyPr/>
          <a:lstStyle/>
          <a:p>
            <a:endParaRPr/>
          </a:p>
        </p:txBody>
      </p:sp>
      <p:sp>
        <p:nvSpPr>
          <p:cNvPr id="100101" name="TextBox 2"/>
          <p:cNvSpPr txBox="1"/>
          <p:nvPr/>
        </p:nvSpPr>
        <p:spPr>
          <a:xfrm>
            <a:off x="648000" y="468000"/>
            <a:ext cx="10800000" cy="864000"/>
          </a:xfrm>
          <a:prstGeom prst="rect">
            <a:avLst/>
          </a:prstGeom>
        </p:spPr>
        <p:txBody>
          <a:bodyPr/>
          <a:lstStyle/>
          <a:p>
            <a:r>
              <a:rPr lang="en-US" sz="3200" b="1">
                <a:solidFill>
                  <a:srgbClr val="1B2430"/>
                </a:solidFill>
                <a:latin typeface="Trebuchet MS"/>
                <a:ea typeface="Trebuchet MS"/>
              </a:rPr>
              <a:t>Theo dõi tiến bộ &amp; xét pass minh bạch</a:t>
            </a:r>
          </a:p>
        </p:txBody>
      </p:sp>
      <p:sp>
        <p:nvSpPr>
          <p:cNvPr id="100102" name="CardC"/>
          <p:cNvSpPr/>
          <p:nvPr/>
        </p:nvSpPr>
        <p:spPr>
          <a:xfrm>
            <a:off x="648000" y="1800000"/>
            <a:ext cx="5256000" cy="3420000"/>
          </a:xfrm>
          <a:prstGeom prst="roundRect">
            <a:avLst/>
          </a:prstGeom>
          <a:solidFill>
            <a:srgbClr val="F5F6F8"/>
          </a:solidFill>
          <a:ln>
            <a:noFill/>
          </a:ln>
        </p:spPr>
        <p:txBody>
          <a:bodyPr/>
          <a:lstStyle/>
          <a:p>
            <a:endParaRPr/>
          </a:p>
        </p:txBody>
      </p:sp>
      <p:sp>
        <p:nvSpPr>
          <p:cNvPr id="100103" name="TextBox 4"/>
          <p:cNvSpPr/>
          <p:nvPr/>
        </p:nvSpPr>
        <p:spPr>
          <a:xfrm>
            <a:off x="1062000" y="2214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1</a:t>
            </a:r>
          </a:p>
        </p:txBody>
      </p:sp>
      <p:sp>
        <p:nvSpPr>
          <p:cNvPr id="100104" name="TextBox 5"/>
          <p:cNvSpPr txBox="1"/>
          <p:nvPr/>
        </p:nvSpPr>
        <p:spPr>
          <a:xfrm>
            <a:off x="1080000" y="2952000"/>
            <a:ext cx="4392000" cy="432000"/>
          </a:xfrm>
          <a:prstGeom prst="rect">
            <a:avLst/>
          </a:prstGeom>
        </p:spPr>
        <p:txBody>
          <a:bodyPr/>
          <a:lstStyle/>
          <a:p>
            <a:r>
              <a:rPr lang="en-US" sz="2200" b="1">
                <a:solidFill>
                  <a:srgbClr val="1B2430"/>
                </a:solidFill>
                <a:latin typeface="Trebuchet MS"/>
                <a:ea typeface="Trebuchet MS"/>
              </a:rPr>
              <a:t>Lịch sử chuyển nhãn</a:t>
            </a:r>
          </a:p>
        </p:txBody>
      </p:sp>
      <p:sp>
        <p:nvSpPr>
          <p:cNvPr id="100105" name="TextBox 6"/>
          <p:cNvSpPr txBox="1"/>
          <p:nvPr/>
        </p:nvSpPr>
        <p:spPr>
          <a:xfrm>
            <a:off x="1080000" y="3456000"/>
            <a:ext cx="4392000" cy="1260000"/>
          </a:xfrm>
          <a:prstGeom prst="rect">
            <a:avLst/>
          </a:prstGeom>
        </p:spPr>
        <p:txBody>
          <a:bodyPr/>
          <a:lstStyle/>
          <a:p>
            <a:r>
              <a:rPr lang="en-US" sz="1800">
                <a:solidFill>
                  <a:srgbClr val="7A8794"/>
                </a:solidFill>
                <a:latin typeface="Calibri"/>
                <a:ea typeface="Calibri"/>
              </a:rPr>
              <a:t>Hiểu học viên đang tiến bộ hay đi xuống, thay vì chỉ nhìn trạng thái tại một thời điểm.</a:t>
            </a:r>
          </a:p>
        </p:txBody>
      </p:sp>
      <p:sp>
        <p:nvSpPr>
          <p:cNvPr id="100106" name="CardD"/>
          <p:cNvSpPr/>
          <p:nvPr/>
        </p:nvSpPr>
        <p:spPr>
          <a:xfrm>
            <a:off x="6289200" y="1800000"/>
            <a:ext cx="5256000" cy="3420000"/>
          </a:xfrm>
          <a:prstGeom prst="roundRect">
            <a:avLst/>
          </a:prstGeom>
          <a:solidFill>
            <a:srgbClr val="1B2430"/>
          </a:solidFill>
          <a:ln>
            <a:noFill/>
          </a:ln>
        </p:spPr>
        <p:txBody>
          <a:bodyPr/>
          <a:lstStyle/>
          <a:p>
            <a:endParaRPr/>
          </a:p>
        </p:txBody>
      </p:sp>
      <p:sp>
        <p:nvSpPr>
          <p:cNvPr id="100107" name="TextBox 8"/>
          <p:cNvSpPr/>
          <p:nvPr/>
        </p:nvSpPr>
        <p:spPr>
          <a:xfrm>
            <a:off x="6703200" y="2214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2</a:t>
            </a:r>
          </a:p>
        </p:txBody>
      </p:sp>
      <p:sp>
        <p:nvSpPr>
          <p:cNvPr id="100108" name="TextBox 9"/>
          <p:cNvSpPr txBox="1"/>
          <p:nvPr/>
        </p:nvSpPr>
        <p:spPr>
          <a:xfrm>
            <a:off x="6721200" y="2952000"/>
            <a:ext cx="4392000" cy="432000"/>
          </a:xfrm>
          <a:prstGeom prst="rect">
            <a:avLst/>
          </a:prstGeom>
        </p:spPr>
        <p:txBody>
          <a:bodyPr/>
          <a:lstStyle/>
          <a:p>
            <a:r>
              <a:rPr lang="en-US" sz="2200" b="1">
                <a:solidFill>
                  <a:srgbClr val="FFFFFF"/>
                </a:solidFill>
                <a:latin typeface="Trebuchet MS"/>
                <a:ea typeface="Trebuchet MS"/>
              </a:rPr>
              <a:t>Xét pass mềm 3 nhóm</a:t>
            </a:r>
          </a:p>
        </p:txBody>
      </p:sp>
      <p:sp>
        <p:nvSpPr>
          <p:cNvPr id="100109" name="TextBox 10"/>
          <p:cNvSpPr txBox="1"/>
          <p:nvPr/>
        </p:nvSpPr>
        <p:spPr>
          <a:xfrm>
            <a:off x="6721200" y="3456000"/>
            <a:ext cx="4392000" cy="1368000"/>
          </a:xfrm>
          <a:prstGeom prst="rect">
            <a:avLst/>
          </a:prstGeom>
        </p:spPr>
        <p:txBody>
          <a:bodyPr/>
          <a:lstStyle/>
          <a:p>
            <a:r>
              <a:rPr lang="en-US" sz="1800">
                <a:solidFill>
                  <a:srgbClr val="CADCFC"/>
                </a:solidFill>
                <a:latin typeface="Calibri"/>
                <a:ea typeface="Calibri"/>
              </a:rPr>
              <a:t>Rõ ràng, có hệ thống hỗ trợ — gi</a:t>
            </a:r>
            <a:r>
              <a:rPr lang="en-US">
                <a:solidFill>
                  <a:srgbClr val="CADCFC"/>
                </a:solidFill>
                <a:latin typeface="Calibri"/>
                <a:ea typeface="Calibri"/>
              </a:rPr>
              <a:t>úp GV nhanh chóng nắm bắt được liệu</a:t>
            </a:r>
            <a:r>
              <a:rPr lang="en-US" sz="1800">
                <a:solidFill>
                  <a:srgbClr val="CADCFC"/>
                </a:solidFill>
                <a:latin typeface="Calibri"/>
                <a:ea typeface="Calibri"/>
              </a:rPr>
              <a:t> một học viên có đủ điều kiện pass hay không.</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2430"/>
        </a:solidFill>
        <a:effectLst/>
      </p:bgPr>
    </p:bg>
    <p:spTree>
      <p:nvGrpSpPr>
        <p:cNvPr id="1" name=""/>
        <p:cNvGrpSpPr/>
        <p:nvPr/>
      </p:nvGrpSpPr>
      <p:grpSpPr>
        <a:xfrm>
          <a:off x="0" y="0"/>
          <a:ext cx="0" cy="0"/>
          <a:chOff x="0" y="0"/>
          <a:chExt cx="0" cy="0"/>
        </a:xfrm>
      </p:grpSpPr>
      <p:sp>
        <p:nvSpPr>
          <p:cNvPr id="100110" name="DivNum"/>
          <p:cNvSpPr txBox="1"/>
          <p:nvPr/>
        </p:nvSpPr>
        <p:spPr>
          <a:xfrm>
            <a:off x="0" y="1080000"/>
            <a:ext cx="7200000" cy="5040000"/>
          </a:xfrm>
          <a:prstGeom prst="rect">
            <a:avLst/>
          </a:prstGeom>
        </p:spPr>
        <p:txBody>
          <a:bodyPr anchor="ctr"/>
          <a:lstStyle/>
          <a:p>
            <a:pPr algn="l"/>
            <a:r>
              <a:rPr lang="en-US" sz="26000" b="1">
                <a:solidFill>
                  <a:srgbClr val="27313E"/>
                </a:solidFill>
                <a:latin typeface="Trebuchet MS"/>
                <a:ea typeface="Trebuchet MS"/>
              </a:rPr>
              <a:t>04</a:t>
            </a:r>
          </a:p>
        </p:txBody>
      </p:sp>
      <p:sp>
        <p:nvSpPr>
          <p:cNvPr id="100111" name="TextBox 2"/>
          <p:cNvSpPr txBox="1"/>
          <p:nvPr/>
        </p:nvSpPr>
        <p:spPr>
          <a:xfrm>
            <a:off x="1080000" y="2952000"/>
            <a:ext cx="10033200" cy="360000"/>
          </a:xfrm>
          <a:prstGeom prst="rect">
            <a:avLst/>
          </a:prstGeom>
        </p:spPr>
        <p:txBody>
          <a:bodyPr/>
          <a:lstStyle/>
          <a:p>
            <a:r>
              <a:rPr lang="en-US" sz="1600" b="1">
                <a:solidFill>
                  <a:srgbClr val="DB0829"/>
                </a:solidFill>
                <a:latin typeface="Calibri"/>
                <a:ea typeface="Calibri"/>
              </a:rPr>
              <a:t>PHẦN 04</a:t>
            </a:r>
          </a:p>
        </p:txBody>
      </p:sp>
      <p:sp>
        <p:nvSpPr>
          <p:cNvPr id="100112" name="TextBox 3"/>
          <p:cNvSpPr txBox="1"/>
          <p:nvPr/>
        </p:nvSpPr>
        <p:spPr>
          <a:xfrm>
            <a:off x="1080000" y="3312000"/>
            <a:ext cx="10033200" cy="1080000"/>
          </a:xfrm>
          <a:prstGeom prst="rect">
            <a:avLst/>
          </a:prstGeom>
        </p:spPr>
        <p:txBody>
          <a:bodyPr/>
          <a:lstStyle/>
          <a:p>
            <a:r>
              <a:rPr lang="en-US" sz="4000" b="1">
                <a:solidFill>
                  <a:srgbClr val="FFFFFF"/>
                </a:solidFill>
                <a:latin typeface="Trebuchet MS"/>
                <a:ea typeface="Trebuchet MS"/>
              </a:rPr>
              <a:t>Impact kỳ vọng cho IZONE</a:t>
            </a:r>
          </a:p>
        </p:txBody>
      </p:sp>
      <p:sp>
        <p:nvSpPr>
          <p:cNvPr id="100113" name="TextBox 4"/>
          <p:cNvSpPr/>
          <p:nvPr/>
        </p:nvSpPr>
        <p:spPr>
          <a:xfrm>
            <a:off x="0" y="6732000"/>
            <a:ext cx="12193200" cy="126000"/>
          </a:xfrm>
          <a:prstGeom prst="rect">
            <a:avLst/>
          </a:prstGeom>
          <a:solidFill>
            <a:srgbClr val="DB0829"/>
          </a:solidFill>
          <a:ln>
            <a:noFill/>
          </a:ln>
        </p:spPr>
        <p:txBody>
          <a:bodyPr/>
          <a:lstStyle/>
          <a:p>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14" name="TextBox 1"/>
          <p:cNvSpPr/>
          <p:nvPr/>
        </p:nvSpPr>
        <p:spPr>
          <a:xfrm>
            <a:off x="0" y="0"/>
            <a:ext cx="108000" cy="6858000"/>
          </a:xfrm>
          <a:prstGeom prst="rect">
            <a:avLst/>
          </a:prstGeom>
          <a:solidFill>
            <a:srgbClr val="DB0829"/>
          </a:solidFill>
          <a:ln>
            <a:noFill/>
          </a:ln>
        </p:spPr>
        <p:txBody>
          <a:bodyPr/>
          <a:lstStyle/>
          <a:p>
            <a:endParaRPr/>
          </a:p>
        </p:txBody>
      </p:sp>
      <p:sp>
        <p:nvSpPr>
          <p:cNvPr id="100115" name="TextBox 2"/>
          <p:cNvSpPr txBox="1"/>
          <p:nvPr/>
        </p:nvSpPr>
        <p:spPr>
          <a:xfrm>
            <a:off x="648000" y="468000"/>
            <a:ext cx="10080000" cy="720000"/>
          </a:xfrm>
          <a:prstGeom prst="rect">
            <a:avLst/>
          </a:prstGeom>
        </p:spPr>
        <p:txBody>
          <a:bodyPr/>
          <a:lstStyle/>
          <a:p>
            <a:r>
              <a:rPr lang="en-US" sz="3200" b="1">
                <a:solidFill>
                  <a:srgbClr val="1B2430"/>
                </a:solidFill>
                <a:latin typeface="Trebuchet MS"/>
                <a:ea typeface="Trebuchet MS"/>
              </a:rPr>
              <a:t>Impact vận hành</a:t>
            </a:r>
          </a:p>
        </p:txBody>
      </p:sp>
      <p:sp>
        <p:nvSpPr>
          <p:cNvPr id="100116" name="TextBox 3"/>
          <p:cNvSpPr/>
          <p:nvPr/>
        </p:nvSpPr>
        <p:spPr>
          <a:xfrm>
            <a:off x="612000" y="1368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1</a:t>
            </a:r>
          </a:p>
        </p:txBody>
      </p:sp>
      <p:sp>
        <p:nvSpPr>
          <p:cNvPr id="100117" name="TextBox 4"/>
          <p:cNvSpPr txBox="1"/>
          <p:nvPr/>
        </p:nvSpPr>
        <p:spPr>
          <a:xfrm>
            <a:off x="1476000" y="1422000"/>
            <a:ext cx="10044000" cy="414000"/>
          </a:xfrm>
          <a:prstGeom prst="rect">
            <a:avLst/>
          </a:prstGeom>
        </p:spPr>
        <p:txBody>
          <a:bodyPr/>
          <a:lstStyle/>
          <a:p>
            <a:r>
              <a:rPr lang="en-US" sz="2000" b="1">
                <a:solidFill>
                  <a:srgbClr val="1B2430"/>
                </a:solidFill>
                <a:latin typeface="Trebuchet MS"/>
                <a:ea typeface="Trebuchet MS"/>
              </a:rPr>
              <a:t>Giảm tỷ lệ học viên không đạt chuẩn đầu ra</a:t>
            </a:r>
          </a:p>
        </p:txBody>
      </p:sp>
      <p:sp>
        <p:nvSpPr>
          <p:cNvPr id="100118" name="TextBox 5"/>
          <p:cNvSpPr txBox="1"/>
          <p:nvPr/>
        </p:nvSpPr>
        <p:spPr>
          <a:xfrm>
            <a:off x="1476000" y="1782000"/>
            <a:ext cx="10044000" cy="648000"/>
          </a:xfrm>
          <a:prstGeom prst="rect">
            <a:avLst/>
          </a:prstGeom>
        </p:spPr>
        <p:txBody>
          <a:bodyPr/>
          <a:lstStyle/>
          <a:p>
            <a:r>
              <a:rPr lang="en-US" sz="1800">
                <a:solidFill>
                  <a:srgbClr val="7A8794"/>
                </a:solidFill>
                <a:latin typeface="Calibri"/>
                <a:ea typeface="Calibri"/>
              </a:rPr>
              <a:t>Nhờ phát hiện trễ được hạn chế — nhãn rủi ro cập nhật gần thời gian thực thay vì chỉ rà soát vào cuối khoá.</a:t>
            </a:r>
          </a:p>
        </p:txBody>
      </p:sp>
      <p:sp>
        <p:nvSpPr>
          <p:cNvPr id="100119" name="TextBox 6"/>
          <p:cNvSpPr/>
          <p:nvPr/>
        </p:nvSpPr>
        <p:spPr>
          <a:xfrm>
            <a:off x="612000" y="2628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2</a:t>
            </a:r>
          </a:p>
        </p:txBody>
      </p:sp>
      <p:sp>
        <p:nvSpPr>
          <p:cNvPr id="100120" name="TextBox 7"/>
          <p:cNvSpPr txBox="1"/>
          <p:nvPr/>
        </p:nvSpPr>
        <p:spPr>
          <a:xfrm>
            <a:off x="1476000" y="2682000"/>
            <a:ext cx="10044000" cy="414000"/>
          </a:xfrm>
          <a:prstGeom prst="rect">
            <a:avLst/>
          </a:prstGeom>
        </p:spPr>
        <p:txBody>
          <a:bodyPr/>
          <a:lstStyle/>
          <a:p>
            <a:r>
              <a:rPr lang="en-US" sz="2000" b="1">
                <a:solidFill>
                  <a:srgbClr val="1B2430"/>
                </a:solidFill>
                <a:latin typeface="Trebuchet MS"/>
                <a:ea typeface="Trebuchet MS"/>
              </a:rPr>
              <a:t>Chuẩn hoá trải nghiệm học viên toàn khối</a:t>
            </a:r>
          </a:p>
        </p:txBody>
      </p:sp>
      <p:sp>
        <p:nvSpPr>
          <p:cNvPr id="100121" name="TextBox 8"/>
          <p:cNvSpPr txBox="1"/>
          <p:nvPr/>
        </p:nvSpPr>
        <p:spPr>
          <a:xfrm>
            <a:off x="1476000" y="3042000"/>
            <a:ext cx="10044000" cy="648000"/>
          </a:xfrm>
          <a:prstGeom prst="rect">
            <a:avLst/>
          </a:prstGeom>
        </p:spPr>
        <p:txBody>
          <a:bodyPr/>
          <a:lstStyle/>
          <a:p>
            <a:r>
              <a:rPr lang="en-US" sz="1800">
                <a:solidFill>
                  <a:srgbClr val="7A8794"/>
                </a:solidFill>
                <a:latin typeface="Calibri"/>
                <a:ea typeface="Calibri"/>
              </a:rPr>
              <a:t>Mọi lớp áp dụng cùng một bộ ngưỡng đánh giá, giảm khác biệt trong cách xử lý giữa các GV và các lớp.</a:t>
            </a:r>
          </a:p>
        </p:txBody>
      </p:sp>
      <p:sp>
        <p:nvSpPr>
          <p:cNvPr id="100122" name="TextBox 9"/>
          <p:cNvSpPr/>
          <p:nvPr/>
        </p:nvSpPr>
        <p:spPr>
          <a:xfrm>
            <a:off x="612000" y="3888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3</a:t>
            </a:r>
          </a:p>
        </p:txBody>
      </p:sp>
      <p:sp>
        <p:nvSpPr>
          <p:cNvPr id="100123" name="TextBox 10"/>
          <p:cNvSpPr txBox="1"/>
          <p:nvPr/>
        </p:nvSpPr>
        <p:spPr>
          <a:xfrm>
            <a:off x="1476000" y="3942000"/>
            <a:ext cx="10044000" cy="414000"/>
          </a:xfrm>
          <a:prstGeom prst="rect">
            <a:avLst/>
          </a:prstGeom>
        </p:spPr>
        <p:txBody>
          <a:bodyPr/>
          <a:lstStyle/>
          <a:p>
            <a:r>
              <a:rPr lang="en-US" sz="2000" b="1">
                <a:solidFill>
                  <a:srgbClr val="1B2430"/>
                </a:solidFill>
                <a:latin typeface="Trebuchet MS"/>
                <a:ea typeface="Trebuchet MS"/>
              </a:rPr>
              <a:t>Tiết kiệm thời gian vận hành cho GV &amp; Lead</a:t>
            </a:r>
          </a:p>
        </p:txBody>
      </p:sp>
      <p:sp>
        <p:nvSpPr>
          <p:cNvPr id="100124" name="TextBox 11"/>
          <p:cNvSpPr txBox="1"/>
          <p:nvPr/>
        </p:nvSpPr>
        <p:spPr>
          <a:xfrm>
            <a:off x="1476000" y="4302000"/>
            <a:ext cx="10044000" cy="648000"/>
          </a:xfrm>
          <a:prstGeom prst="rect">
            <a:avLst/>
          </a:prstGeom>
        </p:spPr>
        <p:txBody>
          <a:bodyPr/>
          <a:lstStyle/>
          <a:p>
            <a:r>
              <a:rPr lang="en-US" sz="1800">
                <a:solidFill>
                  <a:srgbClr val="7A8794"/>
                </a:solidFill>
                <a:latin typeface="Calibri"/>
                <a:ea typeface="Calibri"/>
              </a:rPr>
              <a:t>Giảm công sức tổng hợp thủ công trên Sheets, giải phóng thời gian cho công tác sư phạm và chăm sóc học viên.</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25" name="TextBox 1"/>
          <p:cNvSpPr/>
          <p:nvPr/>
        </p:nvSpPr>
        <p:spPr>
          <a:xfrm>
            <a:off x="0" y="0"/>
            <a:ext cx="108000" cy="6858000"/>
          </a:xfrm>
          <a:prstGeom prst="rect">
            <a:avLst/>
          </a:prstGeom>
          <a:solidFill>
            <a:srgbClr val="DB0829"/>
          </a:solidFill>
          <a:ln>
            <a:noFill/>
          </a:ln>
        </p:spPr>
        <p:txBody>
          <a:bodyPr/>
          <a:lstStyle/>
          <a:p>
            <a:endParaRPr/>
          </a:p>
        </p:txBody>
      </p:sp>
      <p:sp>
        <p:nvSpPr>
          <p:cNvPr id="100126" name="TextBox 2"/>
          <p:cNvSpPr txBox="1"/>
          <p:nvPr/>
        </p:nvSpPr>
        <p:spPr>
          <a:xfrm>
            <a:off x="648000" y="468000"/>
            <a:ext cx="10080000" cy="720000"/>
          </a:xfrm>
          <a:prstGeom prst="rect">
            <a:avLst/>
          </a:prstGeom>
        </p:spPr>
        <p:txBody>
          <a:bodyPr/>
          <a:lstStyle/>
          <a:p>
            <a:r>
              <a:rPr lang="en-US" sz="3200" b="1">
                <a:solidFill>
                  <a:srgbClr val="1B2430"/>
                </a:solidFill>
                <a:latin typeface="Trebuchet MS"/>
                <a:ea typeface="Trebuchet MS"/>
              </a:rPr>
              <a:t>Impact dài hạn</a:t>
            </a:r>
          </a:p>
        </p:txBody>
      </p:sp>
      <p:sp>
        <p:nvSpPr>
          <p:cNvPr id="100127" name="CardE"/>
          <p:cNvSpPr/>
          <p:nvPr/>
        </p:nvSpPr>
        <p:spPr>
          <a:xfrm>
            <a:off x="648000" y="1620000"/>
            <a:ext cx="5256000" cy="3600000"/>
          </a:xfrm>
          <a:prstGeom prst="roundRect">
            <a:avLst/>
          </a:prstGeom>
          <a:solidFill>
            <a:srgbClr val="F5F6F8"/>
          </a:solidFill>
          <a:ln>
            <a:noFill/>
          </a:ln>
        </p:spPr>
        <p:txBody>
          <a:bodyPr/>
          <a:lstStyle/>
          <a:p>
            <a:endParaRPr/>
          </a:p>
        </p:txBody>
      </p:sp>
      <p:sp>
        <p:nvSpPr>
          <p:cNvPr id="100128" name="TextBox 4"/>
          <p:cNvSpPr/>
          <p:nvPr/>
        </p:nvSpPr>
        <p:spPr>
          <a:xfrm>
            <a:off x="1062000" y="2034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1</a:t>
            </a:r>
          </a:p>
        </p:txBody>
      </p:sp>
      <p:sp>
        <p:nvSpPr>
          <p:cNvPr id="100129" name="TextBox 5"/>
          <p:cNvSpPr txBox="1"/>
          <p:nvPr/>
        </p:nvSpPr>
        <p:spPr>
          <a:xfrm>
            <a:off x="1080000" y="2772000"/>
            <a:ext cx="4392000" cy="504000"/>
          </a:xfrm>
          <a:prstGeom prst="rect">
            <a:avLst/>
          </a:prstGeom>
        </p:spPr>
        <p:txBody>
          <a:bodyPr/>
          <a:lstStyle/>
          <a:p>
            <a:r>
              <a:rPr lang="en-US" sz="2200" b="1">
                <a:solidFill>
                  <a:srgbClr val="1B2430"/>
                </a:solidFill>
                <a:latin typeface="Trebuchet MS"/>
                <a:ea typeface="Trebuchet MS"/>
              </a:rPr>
              <a:t>Ra quyết định bằng số liệu</a:t>
            </a:r>
          </a:p>
        </p:txBody>
      </p:sp>
      <p:sp>
        <p:nvSpPr>
          <p:cNvPr id="100130" name="TextBox 6"/>
          <p:cNvSpPr txBox="1"/>
          <p:nvPr/>
        </p:nvSpPr>
        <p:spPr>
          <a:xfrm>
            <a:off x="1080000" y="3276000"/>
            <a:ext cx="4392000" cy="1620000"/>
          </a:xfrm>
          <a:prstGeom prst="rect">
            <a:avLst/>
          </a:prstGeom>
        </p:spPr>
        <p:txBody>
          <a:bodyPr/>
          <a:lstStyle/>
          <a:p>
            <a:r>
              <a:rPr lang="en-US" sz="1800">
                <a:solidFill>
                  <a:srgbClr val="7A8794"/>
                </a:solidFill>
                <a:latin typeface="Calibri"/>
                <a:ea typeface="Calibri"/>
              </a:rPr>
              <a:t>Dữ liệu định lượng về lịch sử can thiệp và chuyển nhãn — cơ sở đánh giá hiệu quả từng hình thức can thiệp, cải tiến chính sách thay vì phỏng đoán.</a:t>
            </a:r>
          </a:p>
        </p:txBody>
      </p:sp>
      <p:sp>
        <p:nvSpPr>
          <p:cNvPr id="100131" name="CardF"/>
          <p:cNvSpPr/>
          <p:nvPr/>
        </p:nvSpPr>
        <p:spPr>
          <a:xfrm>
            <a:off x="6289200" y="1620000"/>
            <a:ext cx="5256000" cy="3600000"/>
          </a:xfrm>
          <a:prstGeom prst="roundRect">
            <a:avLst/>
          </a:prstGeom>
          <a:solidFill>
            <a:srgbClr val="1B2430"/>
          </a:solidFill>
          <a:ln>
            <a:noFill/>
          </a:ln>
        </p:spPr>
        <p:txBody>
          <a:bodyPr/>
          <a:lstStyle/>
          <a:p>
            <a:endParaRPr/>
          </a:p>
        </p:txBody>
      </p:sp>
      <p:sp>
        <p:nvSpPr>
          <p:cNvPr id="100132" name="TextBox 8"/>
          <p:cNvSpPr/>
          <p:nvPr/>
        </p:nvSpPr>
        <p:spPr>
          <a:xfrm>
            <a:off x="6703200" y="2034000"/>
            <a:ext cx="612000" cy="612000"/>
          </a:xfrm>
          <a:prstGeom prst="ellipse">
            <a:avLst/>
          </a:prstGeom>
          <a:solidFill>
            <a:srgbClr val="DB0829"/>
          </a:solidFill>
          <a:ln>
            <a:noFill/>
          </a:ln>
        </p:spPr>
        <p:txBody>
          <a:bodyPr anchor="ctr"/>
          <a:lstStyle/>
          <a:p>
            <a:pPr algn="ctr"/>
            <a:r>
              <a:rPr lang="en-US" sz="2200" b="1">
                <a:solidFill>
                  <a:srgbClr val="FFFFFF"/>
                </a:solidFill>
                <a:latin typeface="Trebuchet MS"/>
                <a:ea typeface="Trebuchet MS"/>
              </a:rPr>
              <a:t>2</a:t>
            </a:r>
          </a:p>
        </p:txBody>
      </p:sp>
      <p:sp>
        <p:nvSpPr>
          <p:cNvPr id="100133" name="TextBox 9"/>
          <p:cNvSpPr txBox="1"/>
          <p:nvPr/>
        </p:nvSpPr>
        <p:spPr>
          <a:xfrm>
            <a:off x="6721200" y="2772000"/>
            <a:ext cx="4392000" cy="504000"/>
          </a:xfrm>
          <a:prstGeom prst="rect">
            <a:avLst/>
          </a:prstGeom>
        </p:spPr>
        <p:txBody>
          <a:bodyPr/>
          <a:lstStyle/>
          <a:p>
            <a:r>
              <a:rPr lang="en-US" sz="2200" b="1">
                <a:solidFill>
                  <a:srgbClr val="FFFFFF"/>
                </a:solidFill>
                <a:latin typeface="Trebuchet MS"/>
                <a:ea typeface="Trebuchet MS"/>
              </a:rPr>
              <a:t>Nền tảng để mở rộng</a:t>
            </a:r>
          </a:p>
        </p:txBody>
      </p:sp>
      <p:sp>
        <p:nvSpPr>
          <p:cNvPr id="100134" name="TextBox 10"/>
          <p:cNvSpPr txBox="1"/>
          <p:nvPr/>
        </p:nvSpPr>
        <p:spPr>
          <a:xfrm>
            <a:off x="6721200" y="3276000"/>
            <a:ext cx="4392000" cy="1620000"/>
          </a:xfrm>
          <a:prstGeom prst="rect">
            <a:avLst/>
          </a:prstGeom>
        </p:spPr>
        <p:txBody>
          <a:bodyPr/>
          <a:lstStyle/>
          <a:p>
            <a:r>
              <a:rPr lang="en-US" sz="1800">
                <a:solidFill>
                  <a:srgbClr val="CADCFC"/>
                </a:solidFill>
                <a:latin typeface="Calibri"/>
                <a:ea typeface="Calibri"/>
              </a:rPr>
              <a:t>Khi pipeline nạp dữ liệu tự động từ portal hoàn thiện, hệ thống vận hành cảnh báo theo thời gian thực mà không cần thay đổi kiến trúc hiện tại.</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2430"/>
        </a:solidFill>
        <a:effectLst/>
      </p:bgPr>
    </p:bg>
    <p:spTree>
      <p:nvGrpSpPr>
        <p:cNvPr id="1" name=""/>
        <p:cNvGrpSpPr/>
        <p:nvPr/>
      </p:nvGrpSpPr>
      <p:grpSpPr>
        <a:xfrm>
          <a:off x="0" y="0"/>
          <a:ext cx="0" cy="0"/>
          <a:chOff x="0" y="0"/>
          <a:chExt cx="0" cy="0"/>
        </a:xfrm>
      </p:grpSpPr>
      <p:sp>
        <p:nvSpPr>
          <p:cNvPr id="100135" name="DivNum"/>
          <p:cNvSpPr txBox="1"/>
          <p:nvPr/>
        </p:nvSpPr>
        <p:spPr>
          <a:xfrm>
            <a:off x="0" y="1080000"/>
            <a:ext cx="7200000" cy="5040000"/>
          </a:xfrm>
          <a:prstGeom prst="rect">
            <a:avLst/>
          </a:prstGeom>
        </p:spPr>
        <p:txBody>
          <a:bodyPr anchor="ctr"/>
          <a:lstStyle/>
          <a:p>
            <a:pPr algn="l"/>
            <a:r>
              <a:rPr lang="en-US" sz="26000" b="1">
                <a:solidFill>
                  <a:srgbClr val="27313E"/>
                </a:solidFill>
                <a:latin typeface="Trebuchet MS"/>
                <a:ea typeface="Trebuchet MS"/>
              </a:rPr>
              <a:t>05</a:t>
            </a:r>
          </a:p>
        </p:txBody>
      </p:sp>
      <p:sp>
        <p:nvSpPr>
          <p:cNvPr id="100136" name="TextBox 2"/>
          <p:cNvSpPr txBox="1"/>
          <p:nvPr/>
        </p:nvSpPr>
        <p:spPr>
          <a:xfrm>
            <a:off x="1080000" y="2952000"/>
            <a:ext cx="10033200" cy="360000"/>
          </a:xfrm>
          <a:prstGeom prst="rect">
            <a:avLst/>
          </a:prstGeom>
        </p:spPr>
        <p:txBody>
          <a:bodyPr/>
          <a:lstStyle/>
          <a:p>
            <a:r>
              <a:rPr lang="en-US" sz="1600" b="1">
                <a:solidFill>
                  <a:srgbClr val="DB0829"/>
                </a:solidFill>
                <a:latin typeface="Calibri"/>
                <a:ea typeface="Calibri"/>
              </a:rPr>
              <a:t>PHẦN 05</a:t>
            </a:r>
          </a:p>
        </p:txBody>
      </p:sp>
      <p:sp>
        <p:nvSpPr>
          <p:cNvPr id="100137" name="TextBox 3"/>
          <p:cNvSpPr txBox="1"/>
          <p:nvPr/>
        </p:nvSpPr>
        <p:spPr>
          <a:xfrm>
            <a:off x="1080000" y="3312000"/>
            <a:ext cx="10033200" cy="1080000"/>
          </a:xfrm>
          <a:prstGeom prst="rect">
            <a:avLst/>
          </a:prstGeom>
        </p:spPr>
        <p:txBody>
          <a:bodyPr/>
          <a:lstStyle/>
          <a:p>
            <a:r>
              <a:rPr lang="en-US" sz="4000" b="1">
                <a:solidFill>
                  <a:srgbClr val="FFFFFF"/>
                </a:solidFill>
                <a:latin typeface="Trebuchet MS"/>
                <a:ea typeface="Trebuchet MS"/>
              </a:rPr>
              <a:t>Hiện trạng triển khai</a:t>
            </a:r>
          </a:p>
        </p:txBody>
      </p:sp>
      <p:sp>
        <p:nvSpPr>
          <p:cNvPr id="100138" name="TextBox 4"/>
          <p:cNvSpPr/>
          <p:nvPr/>
        </p:nvSpPr>
        <p:spPr>
          <a:xfrm>
            <a:off x="0" y="6732000"/>
            <a:ext cx="12193200" cy="126000"/>
          </a:xfrm>
          <a:prstGeom prst="rect">
            <a:avLst/>
          </a:prstGeom>
          <a:solidFill>
            <a:srgbClr val="DB0829"/>
          </a:solidFill>
          <a:ln>
            <a:noFill/>
          </a:ln>
        </p:spPr>
        <p:txBody>
          <a:bodyPr/>
          <a:lstStyle/>
          <a:p>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39" name="TextBox 1"/>
          <p:cNvSpPr/>
          <p:nvPr/>
        </p:nvSpPr>
        <p:spPr>
          <a:xfrm>
            <a:off x="0" y="0"/>
            <a:ext cx="108000" cy="6858000"/>
          </a:xfrm>
          <a:prstGeom prst="rect">
            <a:avLst/>
          </a:prstGeom>
          <a:solidFill>
            <a:srgbClr val="DB0829"/>
          </a:solidFill>
          <a:ln>
            <a:noFill/>
          </a:ln>
        </p:spPr>
        <p:txBody>
          <a:bodyPr/>
          <a:lstStyle/>
          <a:p>
            <a:endParaRPr/>
          </a:p>
        </p:txBody>
      </p:sp>
      <p:sp>
        <p:nvSpPr>
          <p:cNvPr id="100140" name="TextBox 2"/>
          <p:cNvSpPr txBox="1"/>
          <p:nvPr/>
        </p:nvSpPr>
        <p:spPr>
          <a:xfrm>
            <a:off x="648000" y="360000"/>
            <a:ext cx="10080000" cy="684000"/>
          </a:xfrm>
          <a:prstGeom prst="rect">
            <a:avLst/>
          </a:prstGeom>
        </p:spPr>
        <p:txBody>
          <a:bodyPr/>
          <a:lstStyle/>
          <a:p>
            <a:r>
              <a:rPr lang="en-US" sz="3000" b="1">
                <a:solidFill>
                  <a:srgbClr val="1B2430"/>
                </a:solidFill>
                <a:latin typeface="Trebuchet MS"/>
                <a:ea typeface="Trebuchet MS"/>
              </a:rPr>
              <a:t>Đã có gì, đang làm gì tiếp theo</a:t>
            </a:r>
          </a:p>
        </p:txBody>
      </p:sp>
      <p:sp>
        <p:nvSpPr>
          <p:cNvPr id="100141" name="ColDone"/>
          <p:cNvSpPr/>
          <p:nvPr/>
        </p:nvSpPr>
        <p:spPr>
          <a:xfrm>
            <a:off x="648000" y="1188000"/>
            <a:ext cx="5256000" cy="3708000"/>
          </a:xfrm>
          <a:prstGeom prst="roundRect">
            <a:avLst/>
          </a:prstGeom>
          <a:solidFill>
            <a:srgbClr val="F5F6F8"/>
          </a:solidFill>
          <a:ln>
            <a:noFill/>
          </a:ln>
        </p:spPr>
        <p:txBody>
          <a:bodyPr/>
          <a:lstStyle/>
          <a:p>
            <a:endParaRPr/>
          </a:p>
        </p:txBody>
      </p:sp>
      <p:sp>
        <p:nvSpPr>
          <p:cNvPr id="100142" name="TextBox 4"/>
          <p:cNvSpPr txBox="1"/>
          <p:nvPr/>
        </p:nvSpPr>
        <p:spPr>
          <a:xfrm>
            <a:off x="936000" y="1386000"/>
            <a:ext cx="4680000" cy="324000"/>
          </a:xfrm>
          <a:prstGeom prst="rect">
            <a:avLst/>
          </a:prstGeom>
        </p:spPr>
        <p:txBody>
          <a:bodyPr/>
          <a:lstStyle/>
          <a:p>
            <a:r>
              <a:rPr lang="en-US" sz="1500" b="1">
                <a:solidFill>
                  <a:srgbClr val="DB0829"/>
                </a:solidFill>
                <a:latin typeface="Calibri"/>
                <a:ea typeface="Calibri"/>
              </a:rPr>
              <a:t>ĐÃ HOÀN THÀNH</a:t>
            </a:r>
          </a:p>
        </p:txBody>
      </p:sp>
      <p:sp>
        <p:nvSpPr>
          <p:cNvPr id="100143" name="TextBox 5"/>
          <p:cNvSpPr/>
          <p:nvPr/>
        </p:nvSpPr>
        <p:spPr>
          <a:xfrm>
            <a:off x="864000" y="1728000"/>
            <a:ext cx="432000" cy="432000"/>
          </a:xfrm>
          <a:prstGeom prst="ellipse">
            <a:avLst/>
          </a:prstGeom>
          <a:solidFill>
            <a:srgbClr val="DB0829"/>
          </a:solidFill>
          <a:ln>
            <a:noFill/>
          </a:ln>
        </p:spPr>
        <p:txBody>
          <a:bodyPr anchor="ctr"/>
          <a:lstStyle/>
          <a:p>
            <a:pPr algn="ctr"/>
            <a:r>
              <a:rPr lang="en-US" sz="1400" b="1">
                <a:solidFill>
                  <a:srgbClr val="FFFFFF"/>
                </a:solidFill>
                <a:latin typeface="Calibri"/>
                <a:ea typeface="Calibri"/>
              </a:rPr>
              <a:t>✓</a:t>
            </a:r>
          </a:p>
        </p:txBody>
      </p:sp>
      <p:sp>
        <p:nvSpPr>
          <p:cNvPr id="100144" name="TextBox 6"/>
          <p:cNvSpPr txBox="1"/>
          <p:nvPr/>
        </p:nvSpPr>
        <p:spPr>
          <a:xfrm>
            <a:off x="1332000" y="1764000"/>
            <a:ext cx="4320000" cy="918000"/>
          </a:xfrm>
          <a:prstGeom prst="rect">
            <a:avLst/>
          </a:prstGeom>
        </p:spPr>
        <p:txBody>
          <a:bodyPr/>
          <a:lstStyle/>
          <a:p>
            <a:r>
              <a:rPr lang="en-US" sz="1800">
                <a:solidFill>
                  <a:srgbClr val="333333"/>
                </a:solidFill>
                <a:latin typeface="Calibri"/>
                <a:ea typeface="Calibri"/>
              </a:rPr>
              <a:t>Backend NestJS + PostgreSQL, đã có dashboard cho cả Lead Khối và Giáo viên.</a:t>
            </a:r>
          </a:p>
        </p:txBody>
      </p:sp>
      <p:sp>
        <p:nvSpPr>
          <p:cNvPr id="100145" name="TextBox 7"/>
          <p:cNvSpPr/>
          <p:nvPr/>
        </p:nvSpPr>
        <p:spPr>
          <a:xfrm>
            <a:off x="864000" y="2790000"/>
            <a:ext cx="432000" cy="432000"/>
          </a:xfrm>
          <a:prstGeom prst="ellipse">
            <a:avLst/>
          </a:prstGeom>
          <a:solidFill>
            <a:srgbClr val="DB0829"/>
          </a:solidFill>
          <a:ln>
            <a:noFill/>
          </a:ln>
        </p:spPr>
        <p:txBody>
          <a:bodyPr anchor="ctr"/>
          <a:lstStyle/>
          <a:p>
            <a:pPr algn="ctr"/>
            <a:r>
              <a:rPr lang="en-US" sz="1400" b="1">
                <a:solidFill>
                  <a:srgbClr val="FFFFFF"/>
                </a:solidFill>
                <a:latin typeface="Calibri"/>
                <a:ea typeface="Calibri"/>
              </a:rPr>
              <a:t>✓</a:t>
            </a:r>
          </a:p>
        </p:txBody>
      </p:sp>
      <p:sp>
        <p:nvSpPr>
          <p:cNvPr id="100146" name="TextBox 8"/>
          <p:cNvSpPr txBox="1"/>
          <p:nvPr/>
        </p:nvSpPr>
        <p:spPr>
          <a:xfrm>
            <a:off x="1332000" y="2826000"/>
            <a:ext cx="4320000" cy="1206000"/>
          </a:xfrm>
          <a:prstGeom prst="rect">
            <a:avLst/>
          </a:prstGeom>
        </p:spPr>
        <p:txBody>
          <a:bodyPr/>
          <a:lstStyle/>
          <a:p>
            <a:r>
              <a:rPr lang="en-US" sz="1800">
                <a:solidFill>
                  <a:srgbClr val="333333"/>
                </a:solidFill>
                <a:latin typeface="Calibri"/>
                <a:ea typeface="Calibri"/>
              </a:rPr>
              <a:t>Quy tắc gán nhãn, pass chuẩn, pass mềm và nhật ký liên hệ Zalo đã hiện thực đầy đủ, có kiểm thử tự động.</a:t>
            </a:r>
          </a:p>
        </p:txBody>
      </p:sp>
      <p:sp>
        <p:nvSpPr>
          <p:cNvPr id="100147" name="TextBox 9"/>
          <p:cNvSpPr/>
          <p:nvPr/>
        </p:nvSpPr>
        <p:spPr>
          <a:xfrm>
            <a:off x="864000" y="4140000"/>
            <a:ext cx="432000" cy="432000"/>
          </a:xfrm>
          <a:prstGeom prst="ellipse">
            <a:avLst/>
          </a:prstGeom>
          <a:solidFill>
            <a:srgbClr val="DB0829"/>
          </a:solidFill>
          <a:ln>
            <a:noFill/>
          </a:ln>
        </p:spPr>
        <p:txBody>
          <a:bodyPr anchor="ctr"/>
          <a:lstStyle/>
          <a:p>
            <a:pPr algn="ctr"/>
            <a:r>
              <a:rPr lang="en-US" sz="1400" b="1">
                <a:solidFill>
                  <a:srgbClr val="FFFFFF"/>
                </a:solidFill>
                <a:latin typeface="Calibri"/>
                <a:ea typeface="Calibri"/>
              </a:rPr>
              <a:t>✓</a:t>
            </a:r>
          </a:p>
        </p:txBody>
      </p:sp>
      <p:sp>
        <p:nvSpPr>
          <p:cNvPr id="100148" name="TextBox 10"/>
          <p:cNvSpPr txBox="1"/>
          <p:nvPr/>
        </p:nvSpPr>
        <p:spPr>
          <a:xfrm>
            <a:off x="1332000" y="4176000"/>
            <a:ext cx="4320000" cy="648000"/>
          </a:xfrm>
          <a:prstGeom prst="rect">
            <a:avLst/>
          </a:prstGeom>
        </p:spPr>
        <p:txBody>
          <a:bodyPr/>
          <a:lstStyle/>
          <a:p>
            <a:r>
              <a:rPr lang="en-US" sz="1800">
                <a:solidFill>
                  <a:srgbClr val="333333"/>
                </a:solidFill>
                <a:latin typeface="Calibri"/>
                <a:ea typeface="Calibri"/>
              </a:rPr>
              <a:t>Đã triển khai thử nghiệm trên hạ tầng máy chủ, đang chạy thật.</a:t>
            </a:r>
          </a:p>
        </p:txBody>
      </p:sp>
      <p:sp>
        <p:nvSpPr>
          <p:cNvPr id="100149" name="ColNext"/>
          <p:cNvSpPr/>
          <p:nvPr/>
        </p:nvSpPr>
        <p:spPr>
          <a:xfrm>
            <a:off x="6289200" y="1188000"/>
            <a:ext cx="5256000" cy="3456000"/>
          </a:xfrm>
          <a:prstGeom prst="roundRect">
            <a:avLst/>
          </a:prstGeom>
          <a:solidFill>
            <a:srgbClr val="1B2430"/>
          </a:solidFill>
          <a:ln>
            <a:noFill/>
          </a:ln>
        </p:spPr>
        <p:txBody>
          <a:bodyPr/>
          <a:lstStyle/>
          <a:p>
            <a:endParaRPr/>
          </a:p>
        </p:txBody>
      </p:sp>
      <p:sp>
        <p:nvSpPr>
          <p:cNvPr id="100150" name="TextBox 12"/>
          <p:cNvSpPr txBox="1"/>
          <p:nvPr/>
        </p:nvSpPr>
        <p:spPr>
          <a:xfrm>
            <a:off x="6577200" y="1386000"/>
            <a:ext cx="4680000" cy="324000"/>
          </a:xfrm>
          <a:prstGeom prst="rect">
            <a:avLst/>
          </a:prstGeom>
        </p:spPr>
        <p:txBody>
          <a:bodyPr/>
          <a:lstStyle/>
          <a:p>
            <a:r>
              <a:rPr lang="en-US" sz="1500" b="1">
                <a:solidFill>
                  <a:srgbClr val="F59E0B"/>
                </a:solidFill>
                <a:latin typeface="Calibri"/>
                <a:ea typeface="Calibri"/>
              </a:rPr>
              <a:t>ĐANG TRIỂN KHAI TIẾP THEO</a:t>
            </a:r>
          </a:p>
        </p:txBody>
      </p:sp>
      <p:sp>
        <p:nvSpPr>
          <p:cNvPr id="100151" name="TextBox 13"/>
          <p:cNvSpPr/>
          <p:nvPr/>
        </p:nvSpPr>
        <p:spPr>
          <a:xfrm>
            <a:off x="6505200" y="1800000"/>
            <a:ext cx="432000" cy="432000"/>
          </a:xfrm>
          <a:prstGeom prst="ellipse">
            <a:avLst/>
          </a:prstGeom>
          <a:solidFill>
            <a:srgbClr val="F59E0B"/>
          </a:solidFill>
          <a:ln>
            <a:noFill/>
          </a:ln>
        </p:spPr>
        <p:txBody>
          <a:bodyPr anchor="ctr"/>
          <a:lstStyle/>
          <a:p>
            <a:pPr algn="ctr"/>
            <a:r>
              <a:rPr lang="en-US" sz="1400" b="1">
                <a:solidFill>
                  <a:srgbClr val="1B2430"/>
                </a:solidFill>
                <a:latin typeface="Trebuchet MS"/>
                <a:ea typeface="Trebuchet MS"/>
              </a:rPr>
              <a:t>1</a:t>
            </a:r>
          </a:p>
        </p:txBody>
      </p:sp>
      <p:sp>
        <p:nvSpPr>
          <p:cNvPr id="100152" name="TextBox 14"/>
          <p:cNvSpPr txBox="1"/>
          <p:nvPr/>
        </p:nvSpPr>
        <p:spPr>
          <a:xfrm>
            <a:off x="6973200" y="1836000"/>
            <a:ext cx="4320000" cy="1206000"/>
          </a:xfrm>
          <a:prstGeom prst="rect">
            <a:avLst/>
          </a:prstGeom>
        </p:spPr>
        <p:txBody>
          <a:bodyPr/>
          <a:lstStyle/>
          <a:p>
            <a:r>
              <a:rPr lang="en-US" sz="1800">
                <a:solidFill>
                  <a:srgbClr val="E4E7EC"/>
                </a:solidFill>
                <a:latin typeface="Calibri"/>
                <a:ea typeface="Calibri"/>
              </a:rPr>
              <a:t>Kết nối pipeline nạp dữ liệu thật từ hệ thống portal — hiện dữ liệu vận hành thử vẫn là dữ liệu mô phỏng.</a:t>
            </a:r>
          </a:p>
        </p:txBody>
      </p:sp>
      <p:sp>
        <p:nvSpPr>
          <p:cNvPr id="100153" name="TextBox 15"/>
          <p:cNvSpPr/>
          <p:nvPr/>
        </p:nvSpPr>
        <p:spPr>
          <a:xfrm>
            <a:off x="6505200" y="3150000"/>
            <a:ext cx="432000" cy="432000"/>
          </a:xfrm>
          <a:prstGeom prst="ellipse">
            <a:avLst/>
          </a:prstGeom>
          <a:solidFill>
            <a:srgbClr val="F59E0B"/>
          </a:solidFill>
          <a:ln>
            <a:noFill/>
          </a:ln>
        </p:spPr>
        <p:txBody>
          <a:bodyPr anchor="ctr"/>
          <a:lstStyle/>
          <a:p>
            <a:pPr algn="ctr"/>
            <a:r>
              <a:rPr lang="en-US" sz="1400" b="1">
                <a:solidFill>
                  <a:srgbClr val="1B2430"/>
                </a:solidFill>
                <a:latin typeface="Trebuchet MS"/>
                <a:ea typeface="Trebuchet MS"/>
              </a:rPr>
              <a:t>2</a:t>
            </a:r>
          </a:p>
        </p:txBody>
      </p:sp>
      <p:sp>
        <p:nvSpPr>
          <p:cNvPr id="100154" name="TextBox 16"/>
          <p:cNvSpPr txBox="1"/>
          <p:nvPr/>
        </p:nvSpPr>
        <p:spPr>
          <a:xfrm>
            <a:off x="6973200" y="3186000"/>
            <a:ext cx="4320000" cy="1206000"/>
          </a:xfrm>
          <a:prstGeom prst="rect">
            <a:avLst/>
          </a:prstGeom>
        </p:spPr>
        <p:txBody>
          <a:bodyPr/>
          <a:lstStyle/>
          <a:p>
            <a:r>
              <a:rPr lang="en-US" sz="1800">
                <a:solidFill>
                  <a:srgbClr val="E4E7EC"/>
                </a:solidFill>
                <a:latin typeface="Calibri"/>
                <a:ea typeface="Calibri"/>
              </a:rPr>
              <a:t>Hoàn thiện các trường dữ liệu "thông minh" (điểm rủi ro, cảnh báo tụt hạng) để phản ánh đúng 100% tình trạng học viên thật.</a:t>
            </a:r>
          </a:p>
        </p:txBody>
      </p:sp>
      <p:sp>
        <p:nvSpPr>
          <p:cNvPr id="100156" name="TextBox 18"/>
          <p:cNvSpPr/>
          <p:nvPr/>
        </p:nvSpPr>
        <p:spPr>
          <a:xfrm>
            <a:off x="648000" y="5328000"/>
            <a:ext cx="2520000" cy="1296000"/>
          </a:xfrm>
          <a:prstGeom prst="roundRect">
            <a:avLst/>
          </a:prstGeom>
          <a:solidFill>
            <a:srgbClr val="F5F6F8"/>
          </a:solidFill>
          <a:ln>
            <a:noFill/>
          </a:ln>
        </p:spPr>
        <p:txBody>
          <a:bodyPr/>
          <a:lstStyle/>
          <a:p>
            <a:endParaRPr/>
          </a:p>
        </p:txBody>
      </p:sp>
      <p:sp>
        <p:nvSpPr>
          <p:cNvPr id="100157" name="TextBox 19"/>
          <p:cNvSpPr txBox="1"/>
          <p:nvPr/>
        </p:nvSpPr>
        <p:spPr>
          <a:xfrm>
            <a:off x="648000" y="5472000"/>
            <a:ext cx="2520000" cy="576000"/>
          </a:xfrm>
          <a:prstGeom prst="rect">
            <a:avLst/>
          </a:prstGeom>
        </p:spPr>
        <p:txBody>
          <a:bodyPr/>
          <a:lstStyle/>
          <a:p>
            <a:pPr algn="ctr"/>
            <a:r>
              <a:rPr lang="en-US" sz="3200" b="1">
                <a:solidFill>
                  <a:srgbClr val="1B2430"/>
                </a:solidFill>
                <a:latin typeface="Trebuchet MS"/>
                <a:ea typeface="Trebuchet MS"/>
              </a:rPr>
              <a:t>91.44%</a:t>
            </a:r>
          </a:p>
        </p:txBody>
      </p:sp>
      <p:sp>
        <p:nvSpPr>
          <p:cNvPr id="100158" name="TextBox 20"/>
          <p:cNvSpPr txBox="1"/>
          <p:nvPr/>
        </p:nvSpPr>
        <p:spPr>
          <a:xfrm>
            <a:off x="648000" y="6084000"/>
            <a:ext cx="2520000" cy="306000"/>
          </a:xfrm>
          <a:prstGeom prst="rect">
            <a:avLst/>
          </a:prstGeom>
        </p:spPr>
        <p:txBody>
          <a:bodyPr/>
          <a:lstStyle/>
          <a:p>
            <a:pPr algn="ctr"/>
            <a:r>
              <a:rPr lang="en-US" sz="1400">
                <a:solidFill>
                  <a:srgbClr val="7A8794"/>
                </a:solidFill>
                <a:latin typeface="Calibri"/>
                <a:ea typeface="Calibri"/>
              </a:rPr>
              <a:t>Điểm danh TB</a:t>
            </a:r>
          </a:p>
        </p:txBody>
      </p:sp>
      <p:sp>
        <p:nvSpPr>
          <p:cNvPr id="100159" name="TextBox 21"/>
          <p:cNvSpPr/>
          <p:nvPr/>
        </p:nvSpPr>
        <p:spPr>
          <a:xfrm>
            <a:off x="3441600" y="5328000"/>
            <a:ext cx="2520000" cy="1296000"/>
          </a:xfrm>
          <a:prstGeom prst="roundRect">
            <a:avLst/>
          </a:prstGeom>
          <a:solidFill>
            <a:srgbClr val="F5F6F8"/>
          </a:solidFill>
          <a:ln>
            <a:noFill/>
          </a:ln>
        </p:spPr>
        <p:txBody>
          <a:bodyPr/>
          <a:lstStyle/>
          <a:p>
            <a:endParaRPr/>
          </a:p>
        </p:txBody>
      </p:sp>
      <p:sp>
        <p:nvSpPr>
          <p:cNvPr id="100160" name="TextBox 22"/>
          <p:cNvSpPr txBox="1"/>
          <p:nvPr/>
        </p:nvSpPr>
        <p:spPr>
          <a:xfrm>
            <a:off x="3441600" y="5472000"/>
            <a:ext cx="2520000" cy="576000"/>
          </a:xfrm>
          <a:prstGeom prst="rect">
            <a:avLst/>
          </a:prstGeom>
        </p:spPr>
        <p:txBody>
          <a:bodyPr/>
          <a:lstStyle/>
          <a:p>
            <a:pPr algn="ctr"/>
            <a:r>
              <a:rPr lang="en-US" sz="3200" b="1">
                <a:solidFill>
                  <a:srgbClr val="1B2430"/>
                </a:solidFill>
                <a:latin typeface="Trebuchet MS"/>
                <a:ea typeface="Trebuchet MS"/>
              </a:rPr>
              <a:t>91.82%</a:t>
            </a:r>
          </a:p>
        </p:txBody>
      </p:sp>
      <p:sp>
        <p:nvSpPr>
          <p:cNvPr id="100161" name="TextBox 23"/>
          <p:cNvSpPr txBox="1"/>
          <p:nvPr/>
        </p:nvSpPr>
        <p:spPr>
          <a:xfrm>
            <a:off x="3441600" y="6084000"/>
            <a:ext cx="2520000" cy="306000"/>
          </a:xfrm>
          <a:prstGeom prst="rect">
            <a:avLst/>
          </a:prstGeom>
        </p:spPr>
        <p:txBody>
          <a:bodyPr/>
          <a:lstStyle/>
          <a:p>
            <a:pPr algn="ctr"/>
            <a:r>
              <a:rPr lang="en-US" sz="1400">
                <a:solidFill>
                  <a:srgbClr val="7A8794"/>
                </a:solidFill>
                <a:latin typeface="Calibri"/>
                <a:ea typeface="Calibri"/>
              </a:rPr>
              <a:t>Làm BTVN TB</a:t>
            </a:r>
          </a:p>
        </p:txBody>
      </p:sp>
      <p:sp>
        <p:nvSpPr>
          <p:cNvPr id="100162" name="TextBox 24"/>
          <p:cNvSpPr/>
          <p:nvPr/>
        </p:nvSpPr>
        <p:spPr>
          <a:xfrm>
            <a:off x="6235200" y="5328000"/>
            <a:ext cx="2520000" cy="1296000"/>
          </a:xfrm>
          <a:prstGeom prst="roundRect">
            <a:avLst/>
          </a:prstGeom>
          <a:solidFill>
            <a:srgbClr val="F5F6F8"/>
          </a:solidFill>
          <a:ln>
            <a:noFill/>
          </a:ln>
        </p:spPr>
        <p:txBody>
          <a:bodyPr/>
          <a:lstStyle/>
          <a:p>
            <a:endParaRPr/>
          </a:p>
        </p:txBody>
      </p:sp>
      <p:sp>
        <p:nvSpPr>
          <p:cNvPr id="100163" name="TextBox 25"/>
          <p:cNvSpPr txBox="1"/>
          <p:nvPr/>
        </p:nvSpPr>
        <p:spPr>
          <a:xfrm>
            <a:off x="6235200" y="5472000"/>
            <a:ext cx="2520000" cy="576000"/>
          </a:xfrm>
          <a:prstGeom prst="rect">
            <a:avLst/>
          </a:prstGeom>
        </p:spPr>
        <p:txBody>
          <a:bodyPr/>
          <a:lstStyle/>
          <a:p>
            <a:pPr algn="ctr"/>
            <a:r>
              <a:rPr lang="en-US" sz="3200" b="1">
                <a:solidFill>
                  <a:srgbClr val="DB0829"/>
                </a:solidFill>
                <a:latin typeface="Trebuchet MS"/>
                <a:ea typeface="Trebuchet MS"/>
              </a:rPr>
              <a:t>11.11%</a:t>
            </a:r>
          </a:p>
        </p:txBody>
      </p:sp>
      <p:sp>
        <p:nvSpPr>
          <p:cNvPr id="100164" name="TextBox 26"/>
          <p:cNvSpPr txBox="1"/>
          <p:nvPr/>
        </p:nvSpPr>
        <p:spPr>
          <a:xfrm>
            <a:off x="6235200" y="6084000"/>
            <a:ext cx="2520000" cy="306000"/>
          </a:xfrm>
          <a:prstGeom prst="rect">
            <a:avLst/>
          </a:prstGeom>
        </p:spPr>
        <p:txBody>
          <a:bodyPr/>
          <a:lstStyle/>
          <a:p>
            <a:pPr algn="ctr"/>
            <a:r>
              <a:rPr lang="en-US" sz="1400">
                <a:solidFill>
                  <a:srgbClr val="7A8794"/>
                </a:solidFill>
                <a:latin typeface="Calibri"/>
                <a:ea typeface="Calibri"/>
              </a:rPr>
              <a:t>Tỷ lệ Pass</a:t>
            </a:r>
          </a:p>
        </p:txBody>
      </p:sp>
      <p:sp>
        <p:nvSpPr>
          <p:cNvPr id="100165" name="TextBox 27"/>
          <p:cNvSpPr/>
          <p:nvPr/>
        </p:nvSpPr>
        <p:spPr>
          <a:xfrm>
            <a:off x="9028800" y="5328000"/>
            <a:ext cx="2520000" cy="1296000"/>
          </a:xfrm>
          <a:prstGeom prst="roundRect">
            <a:avLst/>
          </a:prstGeom>
          <a:solidFill>
            <a:srgbClr val="F5F6F8"/>
          </a:solidFill>
          <a:ln>
            <a:noFill/>
          </a:ln>
        </p:spPr>
        <p:txBody>
          <a:bodyPr/>
          <a:lstStyle/>
          <a:p>
            <a:endParaRPr/>
          </a:p>
        </p:txBody>
      </p:sp>
      <p:sp>
        <p:nvSpPr>
          <p:cNvPr id="100166" name="TextBox 28"/>
          <p:cNvSpPr txBox="1"/>
          <p:nvPr/>
        </p:nvSpPr>
        <p:spPr>
          <a:xfrm>
            <a:off x="9028800" y="5472000"/>
            <a:ext cx="2520000" cy="576000"/>
          </a:xfrm>
          <a:prstGeom prst="rect">
            <a:avLst/>
          </a:prstGeom>
        </p:spPr>
        <p:txBody>
          <a:bodyPr/>
          <a:lstStyle/>
          <a:p>
            <a:pPr algn="ctr"/>
            <a:r>
              <a:rPr lang="en-US" sz="3200" b="1">
                <a:solidFill>
                  <a:srgbClr val="1B2430"/>
                </a:solidFill>
                <a:latin typeface="Trebuchet MS"/>
                <a:ea typeface="Trebuchet MS"/>
              </a:rPr>
              <a:t>53 HV</a:t>
            </a:r>
          </a:p>
        </p:txBody>
      </p:sp>
      <p:sp>
        <p:nvSpPr>
          <p:cNvPr id="100167" name="TextBox 29"/>
          <p:cNvSpPr txBox="1"/>
          <p:nvPr/>
        </p:nvSpPr>
        <p:spPr>
          <a:xfrm>
            <a:off x="9028800" y="6084000"/>
            <a:ext cx="2520000" cy="306000"/>
          </a:xfrm>
          <a:prstGeom prst="rect">
            <a:avLst/>
          </a:prstGeom>
        </p:spPr>
        <p:txBody>
          <a:bodyPr/>
          <a:lstStyle/>
          <a:p>
            <a:pPr algn="ctr"/>
            <a:r>
              <a:rPr lang="en-US" sz="1400">
                <a:solidFill>
                  <a:srgbClr val="7A8794"/>
                </a:solidFill>
                <a:latin typeface="Calibri"/>
                <a:ea typeface="Calibri"/>
              </a:rPr>
              <a:t>Active · 3 lớp</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13</TotalTime>
  <Words>1644</Words>
  <Application>Microsoft Office PowerPoint</Application>
  <PresentationFormat>Widescreen</PresentationFormat>
  <Paragraphs>150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subject>9Slide.vn</dc:subject>
  <dc:creator>ADMIN</dc:creator>
  <dc:description>9Slide.vn</dc:description>
  <cp:lastModifiedBy>Anh Nguyễn</cp:lastModifiedBy>
  <cp:revision>12</cp:revision>
  <dcterms:created xsi:type="dcterms:W3CDTF">2026-08-13T08:32:04Z</dcterms:created>
  <dcterms:modified xsi:type="dcterms:W3CDTF">2026-08-14T07:36:32Z</dcterms:modified>
  <cp:category>9Slide.vn</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1.0.143</vt:lpwstr>
  </property>
  <property fmtid="{D5CDD505-2E9C-101B-9397-08002B2CF9AE}" pid="3" name="OfficeCLI.LastModified">
    <vt:lpwstr>2026-08-13T08:48:05Z</vt:lpwstr>
  </property>
</Properties>
</file>